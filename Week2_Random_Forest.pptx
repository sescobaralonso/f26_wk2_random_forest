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9" r:id="rId3"/>
    <p:sldId id="260" r:id="rId4"/>
    <p:sldId id="258" r:id="rId5"/>
    <p:sldId id="279" r:id="rId6"/>
    <p:sldId id="278" r:id="rId7"/>
    <p:sldId id="269" r:id="rId8"/>
    <p:sldId id="257" r:id="rId9"/>
    <p:sldId id="281" r:id="rId10"/>
    <p:sldId id="273" r:id="rId11"/>
    <p:sldId id="274" r:id="rId12"/>
    <p:sldId id="275" r:id="rId13"/>
    <p:sldId id="283" r:id="rId14"/>
    <p:sldId id="284" r:id="rId15"/>
    <p:sldId id="28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1E2E"/>
    <a:srgbClr val="132432"/>
    <a:srgbClr val="162747"/>
    <a:srgbClr val="14213A"/>
    <a:srgbClr val="1E262D"/>
    <a:srgbClr val="1A222E"/>
    <a:srgbClr val="19212E"/>
    <a:srgbClr val="3041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153"/>
    <p:restoredTop sz="70822"/>
  </p:normalViewPr>
  <p:slideViewPr>
    <p:cSldViewPr snapToGrid="0">
      <p:cViewPr>
        <p:scale>
          <a:sx n="73" d="100"/>
          <a:sy n="73" d="100"/>
        </p:scale>
        <p:origin x="1088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5BAFCE-CAC5-1B45-8CC0-84C51507BEDC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D19926-F67F-9744-9168-D99BC660B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760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 Tree: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single model with a structured path of nodes and decisions from top to bottom.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Random Forest: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ensemble of multiple decision trees that combine their evaluations to produce a final result through consensus or voting.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19926-F67F-9744-9168-D99BC660B58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997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19926-F67F-9744-9168-D99BC660B58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9865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We need data to help us to predict. That’s why is supervised.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We made sure we have as many "Yes" cups as "No" cups. If almost every cup were a "No", a model that always says "No" would look great (95% accuracy!) without learning anything.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19926-F67F-9744-9168-D99BC660B58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8512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br>
              <a:rPr lang="en-US" b="1" dirty="0"/>
            </a:br>
            <a:br>
              <a:rPr lang="en-US" b="1" dirty="0"/>
            </a:br>
            <a:r>
              <a:rPr lang="en-US" b="1" dirty="0" err="1"/>
              <a:t>Inestabilidad</a:t>
            </a:r>
            <a:r>
              <a:rPr lang="en-US" b="1" dirty="0"/>
              <a:t> (</a:t>
            </a:r>
            <a:r>
              <a:rPr lang="en-US" b="1" i="1" dirty="0"/>
              <a:t>High Variance</a:t>
            </a:r>
            <a:r>
              <a:rPr lang="en-US" b="1" dirty="0"/>
              <a:t>):</a:t>
            </a:r>
            <a:r>
              <a:rPr lang="en-US" dirty="0"/>
              <a:t> Si al árbol de la imagen le </a:t>
            </a:r>
            <a:r>
              <a:rPr lang="en-US" dirty="0" err="1"/>
              <a:t>cambias</a:t>
            </a:r>
            <a:r>
              <a:rPr lang="en-US" dirty="0"/>
              <a:t> solo 5 personas de </a:t>
            </a:r>
            <a:r>
              <a:rPr lang="en-US" dirty="0" err="1"/>
              <a:t>tu</a:t>
            </a:r>
            <a:r>
              <a:rPr lang="en-US" dirty="0"/>
              <a:t> </a:t>
            </a:r>
            <a:r>
              <a:rPr lang="en-US" dirty="0" err="1"/>
              <a:t>encuesta</a:t>
            </a:r>
            <a:r>
              <a:rPr lang="en-US" dirty="0"/>
              <a:t> de campo, la </a:t>
            </a:r>
            <a:r>
              <a:rPr lang="en-US" dirty="0" err="1"/>
              <a:t>matemática</a:t>
            </a:r>
            <a:r>
              <a:rPr lang="en-US" dirty="0"/>
              <a:t> de </a:t>
            </a:r>
            <a:r>
              <a:rPr lang="en-US" i="1" dirty="0"/>
              <a:t>Gini</a:t>
            </a:r>
            <a:r>
              <a:rPr lang="en-US" dirty="0"/>
              <a:t> 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decidir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ahora</a:t>
            </a:r>
            <a:r>
              <a:rPr lang="en-US" dirty="0"/>
              <a:t> la "Leche" </a:t>
            </a:r>
            <a:r>
              <a:rPr lang="en-US" dirty="0" err="1"/>
              <a:t>separa</a:t>
            </a:r>
            <a:r>
              <a:rPr lang="en-US" dirty="0"/>
              <a:t> </a:t>
            </a:r>
            <a:r>
              <a:rPr lang="en-US" dirty="0" err="1"/>
              <a:t>mejor</a:t>
            </a:r>
            <a:r>
              <a:rPr lang="en-US" dirty="0"/>
              <a:t> a la </a:t>
            </a:r>
            <a:r>
              <a:rPr lang="en-US" dirty="0" err="1"/>
              <a:t>gente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la "</a:t>
            </a:r>
            <a:r>
              <a:rPr lang="en-US" dirty="0" err="1"/>
              <a:t>Acidez</a:t>
            </a:r>
            <a:r>
              <a:rPr lang="en-US" dirty="0"/>
              <a:t>". Toda la </a:t>
            </a:r>
            <a:r>
              <a:rPr lang="en-US" dirty="0" err="1"/>
              <a:t>estructura</a:t>
            </a:r>
            <a:r>
              <a:rPr lang="en-US" dirty="0"/>
              <a:t> del árbol cambia de forma </a:t>
            </a:r>
            <a:r>
              <a:rPr lang="en-US" dirty="0" err="1"/>
              <a:t>drástica</a:t>
            </a:r>
            <a:r>
              <a:rPr lang="en-US" dirty="0"/>
              <a:t> </a:t>
            </a:r>
            <a:r>
              <a:rPr lang="en-US" dirty="0" err="1"/>
              <a:t>desde</a:t>
            </a:r>
            <a:r>
              <a:rPr lang="en-US" dirty="0"/>
              <a:t> la </a:t>
            </a:r>
            <a:r>
              <a:rPr lang="en-US" dirty="0" err="1"/>
              <a:t>raíz</a:t>
            </a:r>
            <a:r>
              <a:rPr lang="en-US" dirty="0"/>
              <a:t>.</a:t>
            </a:r>
          </a:p>
          <a:p>
            <a:pPr lvl="0"/>
            <a:endParaRPr lang="en-US" dirty="0"/>
          </a:p>
          <a:p>
            <a:pPr lvl="0"/>
            <a:r>
              <a:rPr lang="en-US" b="1" dirty="0" err="1"/>
              <a:t>Terquedad</a:t>
            </a:r>
            <a:r>
              <a:rPr lang="en-US" b="1" dirty="0"/>
              <a:t> (</a:t>
            </a:r>
            <a:r>
              <a:rPr lang="en-US" b="1" i="1" dirty="0"/>
              <a:t>Overfitting / </a:t>
            </a:r>
            <a:r>
              <a:rPr lang="en-US" b="1" i="1" dirty="0" err="1"/>
              <a:t>Sobreajuste</a:t>
            </a:r>
            <a:r>
              <a:rPr lang="en-US" b="1" dirty="0"/>
              <a:t>):</a:t>
            </a:r>
            <a:r>
              <a:rPr lang="en-US" dirty="0"/>
              <a:t> Si </a:t>
            </a:r>
            <a:r>
              <a:rPr lang="en-US" dirty="0" err="1"/>
              <a:t>dejas</a:t>
            </a:r>
            <a:r>
              <a:rPr lang="en-US" dirty="0"/>
              <a:t> </a:t>
            </a:r>
            <a:r>
              <a:rPr lang="en-US" dirty="0" err="1"/>
              <a:t>crecer</a:t>
            </a:r>
            <a:r>
              <a:rPr lang="en-US" dirty="0"/>
              <a:t> un solo árbol sin </a:t>
            </a:r>
            <a:r>
              <a:rPr lang="en-US" dirty="0" err="1"/>
              <a:t>límites</a:t>
            </a:r>
            <a:r>
              <a:rPr lang="en-US" dirty="0"/>
              <a:t>, </a:t>
            </a:r>
            <a:r>
              <a:rPr lang="en-US" dirty="0" err="1"/>
              <a:t>creará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regla</a:t>
            </a:r>
            <a:r>
              <a:rPr lang="en-US" dirty="0"/>
              <a:t> </a:t>
            </a:r>
            <a:r>
              <a:rPr lang="en-US" dirty="0" err="1"/>
              <a:t>específica</a:t>
            </a:r>
            <a:r>
              <a:rPr lang="en-US" dirty="0"/>
              <a:t> para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detalle</a:t>
            </a:r>
            <a:r>
              <a:rPr lang="en-US" dirty="0"/>
              <a:t> </a:t>
            </a:r>
            <a:r>
              <a:rPr lang="en-US" dirty="0" err="1"/>
              <a:t>absurdo</a:t>
            </a:r>
            <a:r>
              <a:rPr lang="en-US" dirty="0"/>
              <a:t> de </a:t>
            </a:r>
            <a:r>
              <a:rPr lang="en-US" dirty="0" err="1"/>
              <a:t>tus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(</a:t>
            </a:r>
            <a:r>
              <a:rPr lang="en-US" dirty="0" err="1"/>
              <a:t>memoriza</a:t>
            </a:r>
            <a:r>
              <a:rPr lang="en-US" dirty="0"/>
              <a:t> el </a:t>
            </a:r>
            <a:r>
              <a:rPr lang="en-US" dirty="0" err="1"/>
              <a:t>ruido</a:t>
            </a:r>
            <a:r>
              <a:rPr lang="en-US" dirty="0"/>
              <a:t> de la </a:t>
            </a:r>
            <a:r>
              <a:rPr lang="en-US" dirty="0" err="1"/>
              <a:t>muestra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vez</a:t>
            </a:r>
            <a:r>
              <a:rPr lang="en-US" dirty="0"/>
              <a:t> de </a:t>
            </a:r>
            <a:r>
              <a:rPr lang="en-US" dirty="0" err="1"/>
              <a:t>aprender</a:t>
            </a:r>
            <a:r>
              <a:rPr lang="en-US" dirty="0"/>
              <a:t> la </a:t>
            </a:r>
            <a:r>
              <a:rPr lang="en-US" dirty="0" err="1"/>
              <a:t>tendencia</a:t>
            </a:r>
            <a:r>
              <a:rPr lang="en-US" dirty="0"/>
              <a:t> general).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Cómo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relaciona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esto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 Random Forest?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árbol individual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flujo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fijo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el café es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ácido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tiene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leche y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azúcar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la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predicción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siempre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será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👍.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 un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Random Forest (500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árboles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Árbol 1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evaluará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Acidez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primero.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 Árbol 2 no se le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permitirá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Acidez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el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parámetro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mtry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y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empezará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preguntando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Leche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 final, el bosque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promedio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sopesará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estas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rutas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darte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probabilidad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sólida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estable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0"/>
            <a:r>
              <a:rPr lang="en-US" dirty="0"/>
              <a:t>En </a:t>
            </a:r>
            <a:r>
              <a:rPr lang="en-US" b="1" dirty="0"/>
              <a:t>un solo Árbol de </a:t>
            </a:r>
            <a:r>
              <a:rPr lang="en-US" b="1" dirty="0" err="1"/>
              <a:t>Decisión</a:t>
            </a:r>
            <a:r>
              <a:rPr lang="en-US" dirty="0"/>
              <a:t>, el </a:t>
            </a:r>
            <a:r>
              <a:rPr lang="en-US" dirty="0" err="1"/>
              <a:t>Índice</a:t>
            </a:r>
            <a:r>
              <a:rPr lang="en-US" dirty="0"/>
              <a:t> Gini </a:t>
            </a:r>
            <a:r>
              <a:rPr lang="en-US" dirty="0" err="1"/>
              <a:t>revisa</a:t>
            </a:r>
            <a:r>
              <a:rPr lang="en-US" dirty="0"/>
              <a:t> </a:t>
            </a:r>
            <a:r>
              <a:rPr lang="en-US" i="1" dirty="0" err="1"/>
              <a:t>todas</a:t>
            </a:r>
            <a:r>
              <a:rPr lang="en-US" dirty="0"/>
              <a:t> las variables </a:t>
            </a:r>
            <a:r>
              <a:rPr lang="en-US" dirty="0" err="1"/>
              <a:t>disponibles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el dataset y </a:t>
            </a:r>
            <a:r>
              <a:rPr lang="en-US" b="1" dirty="0" err="1"/>
              <a:t>siempre</a:t>
            </a:r>
            <a:r>
              <a:rPr lang="en-US" b="1" dirty="0"/>
              <a:t> </a:t>
            </a:r>
            <a:r>
              <a:rPr lang="en-US" b="1" dirty="0" err="1"/>
              <a:t>elegirá</a:t>
            </a:r>
            <a:r>
              <a:rPr lang="en-US" b="1" dirty="0"/>
              <a:t> la </a:t>
            </a:r>
            <a:r>
              <a:rPr lang="en-US" b="1" dirty="0" err="1"/>
              <a:t>Acidez</a:t>
            </a:r>
            <a:r>
              <a:rPr lang="en-US" b="1" dirty="0"/>
              <a:t> primero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ser la variable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mejor</a:t>
            </a:r>
            <a:r>
              <a:rPr lang="en-US" dirty="0"/>
              <a:t> </a:t>
            </a:r>
            <a:r>
              <a:rPr lang="en-US" dirty="0" err="1"/>
              <a:t>separa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. Ese árbol </a:t>
            </a:r>
            <a:r>
              <a:rPr lang="en-US" dirty="0" err="1"/>
              <a:t>siempre</a:t>
            </a:r>
            <a:r>
              <a:rPr lang="en-US" dirty="0"/>
              <a:t> </a:t>
            </a:r>
            <a:r>
              <a:rPr lang="en-US" dirty="0" err="1"/>
              <a:t>será</a:t>
            </a:r>
            <a:r>
              <a:rPr lang="en-US" dirty="0"/>
              <a:t> </a:t>
            </a:r>
            <a:r>
              <a:rPr lang="en-US" dirty="0" err="1"/>
              <a:t>idéntico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no </a:t>
            </a:r>
            <a:r>
              <a:rPr lang="en-US" dirty="0" err="1"/>
              <a:t>cambias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En </a:t>
            </a:r>
            <a:r>
              <a:rPr lang="en-US" b="1" dirty="0"/>
              <a:t>Random Forest</a:t>
            </a:r>
            <a:r>
              <a:rPr lang="en-US" dirty="0"/>
              <a:t>, </a:t>
            </a:r>
            <a:r>
              <a:rPr lang="en-US" dirty="0" err="1"/>
              <a:t>obligamos</a:t>
            </a:r>
            <a:r>
              <a:rPr lang="en-US" dirty="0"/>
              <a:t> al </a:t>
            </a:r>
            <a:r>
              <a:rPr lang="en-US" dirty="0" err="1"/>
              <a:t>algoritmo</a:t>
            </a:r>
            <a:r>
              <a:rPr lang="en-US" dirty="0"/>
              <a:t> a usar el </a:t>
            </a:r>
            <a:r>
              <a:rPr lang="en-US" dirty="0" err="1"/>
              <a:t>parámetro</a:t>
            </a:r>
            <a:r>
              <a:rPr lang="en-US" dirty="0"/>
              <a:t>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mtry</a:t>
            </a:r>
            <a:r>
              <a:rPr lang="en-US" dirty="0"/>
              <a:t> (el "</a:t>
            </a:r>
            <a:r>
              <a:rPr lang="en-US" dirty="0" err="1"/>
              <a:t>truco</a:t>
            </a:r>
            <a:r>
              <a:rPr lang="en-US" dirty="0"/>
              <a:t> de las </a:t>
            </a:r>
            <a:r>
              <a:rPr lang="en-US" dirty="0" err="1"/>
              <a:t>pistas</a:t>
            </a:r>
            <a:r>
              <a:rPr lang="en-US" dirty="0"/>
              <a:t> </a:t>
            </a:r>
            <a:r>
              <a:rPr lang="en-US" dirty="0" err="1"/>
              <a:t>aleatorias</a:t>
            </a:r>
            <a:r>
              <a:rPr lang="en-US" dirty="0"/>
              <a:t>").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Cuando el </a:t>
            </a:r>
            <a:r>
              <a:rPr lang="en-US" b="1" dirty="0"/>
              <a:t>Árbol 2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a </a:t>
            </a:r>
            <a:r>
              <a:rPr lang="en-US" dirty="0" err="1"/>
              <a:t>decidir</a:t>
            </a:r>
            <a:r>
              <a:rPr lang="en-US" dirty="0"/>
              <a:t> </a:t>
            </a:r>
            <a:r>
              <a:rPr lang="en-US" dirty="0" err="1"/>
              <a:t>qué</a:t>
            </a:r>
            <a:r>
              <a:rPr lang="en-US" dirty="0"/>
              <a:t> </a:t>
            </a:r>
            <a:r>
              <a:rPr lang="en-US" dirty="0" err="1"/>
              <a:t>pregunta</a:t>
            </a:r>
            <a:r>
              <a:rPr lang="en-US" dirty="0"/>
              <a:t> </a:t>
            </a:r>
            <a:r>
              <a:rPr lang="en-US" dirty="0" err="1"/>
              <a:t>hacer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raíz</a:t>
            </a:r>
            <a:r>
              <a:rPr lang="en-US" dirty="0"/>
              <a:t>, el </a:t>
            </a:r>
            <a:r>
              <a:rPr lang="en-US" dirty="0" err="1"/>
              <a:t>algoritmo</a:t>
            </a:r>
            <a:r>
              <a:rPr lang="en-US" dirty="0"/>
              <a:t> </a:t>
            </a:r>
            <a:r>
              <a:rPr lang="en-US" dirty="0" err="1"/>
              <a:t>esconde</a:t>
            </a:r>
            <a:r>
              <a:rPr lang="en-US" dirty="0"/>
              <a:t> </a:t>
            </a:r>
            <a:r>
              <a:rPr lang="en-US" dirty="0" err="1"/>
              <a:t>deliberadamente</a:t>
            </a:r>
            <a:r>
              <a:rPr lang="en-US" dirty="0"/>
              <a:t> </a:t>
            </a:r>
            <a:r>
              <a:rPr lang="en-US" dirty="0" err="1"/>
              <a:t>algunas</a:t>
            </a:r>
            <a:r>
              <a:rPr lang="en-US" dirty="0"/>
              <a:t> variables al azar.</a:t>
            </a:r>
          </a:p>
          <a:p>
            <a:r>
              <a:rPr lang="en-US" dirty="0"/>
              <a:t>Si </a:t>
            </a:r>
            <a:r>
              <a:rPr lang="en-US" dirty="0" err="1"/>
              <a:t>tienes</a:t>
            </a:r>
            <a:r>
              <a:rPr lang="en-US" dirty="0"/>
              <a:t> 4 variables (</a:t>
            </a:r>
            <a:r>
              <a:rPr lang="en-US" i="1" dirty="0" err="1"/>
              <a:t>Acidez</a:t>
            </a:r>
            <a:r>
              <a:rPr lang="en-US" i="1" dirty="0"/>
              <a:t>, </a:t>
            </a:r>
            <a:r>
              <a:rPr lang="en-US" i="1" dirty="0" err="1"/>
              <a:t>Temperatura</a:t>
            </a:r>
            <a:r>
              <a:rPr lang="en-US" i="1" dirty="0"/>
              <a:t>, Leche, </a:t>
            </a:r>
            <a:r>
              <a:rPr lang="en-US" i="1" dirty="0" err="1"/>
              <a:t>Azúcar</a:t>
            </a:r>
            <a:r>
              <a:rPr lang="en-US" dirty="0"/>
              <a:t>) y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mtry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2</a:t>
            </a:r>
            <a:r>
              <a:rPr lang="en-US" dirty="0"/>
              <a:t>, el </a:t>
            </a:r>
            <a:r>
              <a:rPr lang="en-US" dirty="0" err="1"/>
              <a:t>algoritmo</a:t>
            </a:r>
            <a:r>
              <a:rPr lang="en-US" dirty="0"/>
              <a:t> </a:t>
            </a:r>
            <a:r>
              <a:rPr lang="en-US" dirty="0" err="1"/>
              <a:t>tira</a:t>
            </a:r>
            <a:r>
              <a:rPr lang="en-US" dirty="0"/>
              <a:t> un dado para el Árbol 2 y le dice:</a:t>
            </a:r>
          </a:p>
          <a:p>
            <a:r>
              <a:rPr lang="en-US" i="1" dirty="0"/>
              <a:t>"Para </a:t>
            </a:r>
            <a:r>
              <a:rPr lang="en-US" i="1" dirty="0" err="1"/>
              <a:t>tu</a:t>
            </a:r>
            <a:r>
              <a:rPr lang="en-US" i="1" dirty="0"/>
              <a:t> </a:t>
            </a:r>
            <a:r>
              <a:rPr lang="en-US" i="1" dirty="0" err="1"/>
              <a:t>raíz</a:t>
            </a:r>
            <a:r>
              <a:rPr lang="en-US" i="1" dirty="0"/>
              <a:t> solo </a:t>
            </a:r>
            <a:r>
              <a:rPr lang="en-US" i="1" dirty="0" err="1"/>
              <a:t>tienes</a:t>
            </a:r>
            <a:r>
              <a:rPr lang="en-US" i="1" dirty="0"/>
              <a:t> </a:t>
            </a:r>
            <a:r>
              <a:rPr lang="en-US" i="1" dirty="0" err="1"/>
              <a:t>permitido</a:t>
            </a:r>
            <a:r>
              <a:rPr lang="en-US" i="1" dirty="0"/>
              <a:t> </a:t>
            </a:r>
            <a:r>
              <a:rPr lang="en-US" i="1" dirty="0" err="1"/>
              <a:t>evaluar</a:t>
            </a:r>
            <a:r>
              <a:rPr lang="en-US" i="1" dirty="0"/>
              <a:t> </a:t>
            </a:r>
            <a:r>
              <a:rPr lang="en-US" b="1" i="1" dirty="0"/>
              <a:t>Leche</a:t>
            </a:r>
            <a:r>
              <a:rPr lang="en-US" i="1" dirty="0"/>
              <a:t> y </a:t>
            </a:r>
            <a:r>
              <a:rPr lang="en-US" b="1" i="1" dirty="0" err="1"/>
              <a:t>Temperatura</a:t>
            </a:r>
            <a:r>
              <a:rPr lang="en-US" i="1" dirty="0"/>
              <a:t>. La </a:t>
            </a:r>
            <a:r>
              <a:rPr lang="en-US" i="1" dirty="0" err="1"/>
              <a:t>Acidez</a:t>
            </a:r>
            <a:r>
              <a:rPr lang="en-US" i="1" dirty="0"/>
              <a:t> y el </a:t>
            </a:r>
            <a:r>
              <a:rPr lang="en-US" i="1" dirty="0" err="1"/>
              <a:t>Azúcar</a:t>
            </a:r>
            <a:r>
              <a:rPr lang="en-US" i="1" dirty="0"/>
              <a:t> </a:t>
            </a:r>
            <a:r>
              <a:rPr lang="en-US" i="1" dirty="0" err="1"/>
              <a:t>están</a:t>
            </a:r>
            <a:r>
              <a:rPr lang="en-US" i="1" dirty="0"/>
              <a:t> </a:t>
            </a:r>
            <a:r>
              <a:rPr lang="en-US" i="1" dirty="0" err="1"/>
              <a:t>bloqueadas</a:t>
            </a:r>
            <a:r>
              <a:rPr lang="en-US" i="1" dirty="0"/>
              <a:t>."</a:t>
            </a:r>
            <a:endParaRPr lang="en-US" dirty="0"/>
          </a:p>
          <a:p>
            <a:r>
              <a:rPr lang="en-US" dirty="0"/>
              <a:t>En ese </a:t>
            </a:r>
            <a:r>
              <a:rPr lang="en-US" dirty="0" err="1"/>
              <a:t>caso</a:t>
            </a:r>
            <a:r>
              <a:rPr lang="en-US" dirty="0"/>
              <a:t>, </a:t>
            </a:r>
            <a:r>
              <a:rPr lang="en-US" dirty="0" err="1"/>
              <a:t>aunque</a:t>
            </a:r>
            <a:r>
              <a:rPr lang="en-US" dirty="0"/>
              <a:t> la </a:t>
            </a:r>
            <a:r>
              <a:rPr lang="en-US" dirty="0" err="1"/>
              <a:t>Acidez</a:t>
            </a:r>
            <a:r>
              <a:rPr lang="en-US" dirty="0"/>
              <a:t> sea </a:t>
            </a:r>
            <a:r>
              <a:rPr lang="en-US" dirty="0" err="1"/>
              <a:t>objetivamente</a:t>
            </a:r>
            <a:r>
              <a:rPr lang="en-US" dirty="0"/>
              <a:t> la </a:t>
            </a:r>
            <a:r>
              <a:rPr lang="en-US" dirty="0" err="1"/>
              <a:t>mejor</a:t>
            </a:r>
            <a:r>
              <a:rPr lang="en-US" dirty="0"/>
              <a:t> variable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todo</a:t>
            </a:r>
            <a:r>
              <a:rPr lang="en-US" dirty="0"/>
              <a:t> el dataset, el Árbol 2 </a:t>
            </a:r>
            <a:r>
              <a:rPr lang="en-US" b="1" dirty="0"/>
              <a:t>no la </a:t>
            </a:r>
            <a:r>
              <a:rPr lang="en-US" b="1" dirty="0" err="1"/>
              <a:t>tiene</a:t>
            </a:r>
            <a:r>
              <a:rPr lang="en-US" b="1" dirty="0"/>
              <a:t> disponible para la </a:t>
            </a:r>
            <a:r>
              <a:rPr lang="en-US" b="1" dirty="0" err="1"/>
              <a:t>raíz</a:t>
            </a:r>
            <a:r>
              <a:rPr lang="en-US" dirty="0"/>
              <a:t>. Por lo tanto, </a:t>
            </a:r>
            <a:r>
              <a:rPr lang="en-US" dirty="0" err="1"/>
              <a:t>calcula</a:t>
            </a:r>
            <a:r>
              <a:rPr lang="en-US" dirty="0"/>
              <a:t> el </a:t>
            </a:r>
            <a:r>
              <a:rPr lang="en-US" dirty="0" err="1"/>
              <a:t>Índice</a:t>
            </a:r>
            <a:r>
              <a:rPr lang="en-US" dirty="0"/>
              <a:t> Gini </a:t>
            </a:r>
            <a:r>
              <a:rPr lang="en-US" dirty="0" err="1"/>
              <a:t>únicamente</a:t>
            </a:r>
            <a:r>
              <a:rPr lang="en-US" dirty="0"/>
              <a:t> entre </a:t>
            </a:r>
            <a:r>
              <a:rPr lang="en-US" i="1" dirty="0"/>
              <a:t>Leche</a:t>
            </a:r>
            <a:r>
              <a:rPr lang="en-US" dirty="0"/>
              <a:t> y </a:t>
            </a:r>
            <a:r>
              <a:rPr lang="en-US" i="1" dirty="0" err="1"/>
              <a:t>Temperatura</a:t>
            </a:r>
            <a:r>
              <a:rPr lang="en-US" dirty="0"/>
              <a:t>, y </a:t>
            </a:r>
            <a:r>
              <a:rPr lang="en-US" dirty="0" err="1"/>
              <a:t>elige</a:t>
            </a:r>
            <a:r>
              <a:rPr lang="en-US" dirty="0"/>
              <a:t> (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ejemplo</a:t>
            </a:r>
            <a:r>
              <a:rPr lang="en-US" dirty="0"/>
              <a:t>) la </a:t>
            </a:r>
            <a:r>
              <a:rPr lang="en-US" b="1" dirty="0"/>
              <a:t>Leche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nodo</a:t>
            </a:r>
            <a:r>
              <a:rPr lang="en-US" dirty="0"/>
              <a:t> </a:t>
            </a:r>
            <a:r>
              <a:rPr lang="en-US" dirty="0" err="1"/>
              <a:t>raíz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19926-F67F-9744-9168-D99BC660B58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5197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“One perfect-expert is not better than many imperfect-experts”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19926-F67F-9744-9168-D99BC660B58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8729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 err="1"/>
                  <a:t>Aprende</a:t>
                </a:r>
                <a:r>
                  <a:rPr lang="en-US" dirty="0"/>
                  <a:t> </a:t>
                </a:r>
                <a:r>
                  <a:rPr lang="en-US" dirty="0" err="1"/>
                  <a:t>que</a:t>
                </a:r>
                <a:r>
                  <a:rPr lang="en-US" dirty="0"/>
                  <a:t> la </a:t>
                </a:r>
                <a:r>
                  <a:rPr lang="en-US" dirty="0" err="1"/>
                  <a:t>acidez</a:t>
                </a:r>
                <a:r>
                  <a:rPr lang="en-US" dirty="0"/>
                  <a:t> es la </a:t>
                </a:r>
                <a:r>
                  <a:rPr lang="en-US" dirty="0" err="1"/>
                  <a:t>prioridad</a:t>
                </a:r>
                <a:r>
                  <a:rPr lang="en-US" dirty="0"/>
                  <a:t>; </a:t>
                </a:r>
                <a:r>
                  <a:rPr lang="en-US" dirty="0" err="1"/>
                  <a:t>si</a:t>
                </a:r>
                <a:r>
                  <a:rPr lang="en-US" dirty="0"/>
                  <a:t> el café es </a:t>
                </a:r>
                <a:r>
                  <a:rPr lang="en-US" dirty="0" err="1"/>
                  <a:t>agrio</a:t>
                </a:r>
                <a:r>
                  <a:rPr lang="en-US" dirty="0"/>
                  <a:t> (mala </a:t>
                </a:r>
                <a:r>
                  <a:rPr lang="en-US" dirty="0" err="1"/>
                  <a:t>acidez</a:t>
                </a:r>
                <a:r>
                  <a:rPr lang="en-US" dirty="0"/>
                  <a:t>), a la </a:t>
                </a:r>
                <a:r>
                  <a:rPr lang="en-US" dirty="0" err="1"/>
                  <a:t>gente</a:t>
                </a:r>
                <a:r>
                  <a:rPr lang="en-US" dirty="0"/>
                  <a:t> no le </a:t>
                </a:r>
                <a:r>
                  <a:rPr lang="en-US" dirty="0" err="1"/>
                  <a:t>gusta</a:t>
                </a:r>
                <a:r>
                  <a:rPr lang="en-US" dirty="0"/>
                  <a:t> (👎). Si la </a:t>
                </a:r>
                <a:r>
                  <a:rPr lang="en-US" dirty="0" err="1"/>
                  <a:t>acidez</a:t>
                </a:r>
                <a:r>
                  <a:rPr lang="en-US" dirty="0"/>
                  <a:t> es </a:t>
                </a:r>
                <a:r>
                  <a:rPr lang="en-US" dirty="0" err="1"/>
                  <a:t>buena</a:t>
                </a:r>
                <a:r>
                  <a:rPr lang="en-US" dirty="0"/>
                  <a:t>, la </a:t>
                </a:r>
                <a:r>
                  <a:rPr lang="en-US" dirty="0" err="1"/>
                  <a:t>gente</a:t>
                </a:r>
                <a:r>
                  <a:rPr lang="en-US" dirty="0"/>
                  <a:t> </a:t>
                </a:r>
                <a:r>
                  <a:rPr lang="en-US" dirty="0" err="1"/>
                  <a:t>exige</a:t>
                </a:r>
                <a:r>
                  <a:rPr lang="en-US" dirty="0"/>
                  <a:t> </a:t>
                </a:r>
                <a:r>
                  <a:rPr lang="en-US" dirty="0" err="1"/>
                  <a:t>que</a:t>
                </a:r>
                <a:r>
                  <a:rPr lang="en-US" dirty="0"/>
                  <a:t> </a:t>
                </a:r>
                <a:r>
                  <a:rPr lang="en-US" dirty="0" err="1"/>
                  <a:t>además</a:t>
                </a:r>
                <a:r>
                  <a:rPr lang="en-US" dirty="0"/>
                  <a:t> </a:t>
                </a:r>
                <a:r>
                  <a:rPr lang="en-US" dirty="0" err="1"/>
                  <a:t>esté</a:t>
                </a:r>
                <a:r>
                  <a:rPr lang="en-US" dirty="0"/>
                  <a:t> caliente (👍).</a:t>
                </a:r>
              </a:p>
              <a:p>
                <a:endParaRPr lang="en-US" dirty="0"/>
              </a:p>
              <a:p>
                <a:pPr lvl="1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 el café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tiene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mala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acidez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→</m:t>
                    </m:r>
                  </m:oMath>
                </a14:m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👎 No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gusta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(45 de 50 personas lo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rechazan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).</a:t>
                </a:r>
              </a:p>
              <a:p>
                <a:pPr lvl="1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 el café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tiene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buena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acidez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y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está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caliente </a:t>
                </a:r>
                <a14:m>
                  <m:oMath xmlns:m="http://schemas.openxmlformats.org/officeDocument/2006/math">
                    <m:r>
                      <a:rPr lang="en-US" sz="120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→</m:t>
                    </m:r>
                  </m:oMath>
                </a14:m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👍 Gusta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(28 de 30 personas lo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aprueban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).</a:t>
                </a:r>
              </a:p>
              <a:p>
                <a:pPr lvl="1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tiene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buena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acidez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pero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está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frío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→</m:t>
                    </m:r>
                  </m:oMath>
                </a14:m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👎 No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gusta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 err="1"/>
                  <a:t>Aprende</a:t>
                </a:r>
                <a:r>
                  <a:rPr lang="en-US" dirty="0"/>
                  <a:t> </a:t>
                </a:r>
                <a:r>
                  <a:rPr lang="en-US" dirty="0" err="1"/>
                  <a:t>que</a:t>
                </a:r>
                <a:r>
                  <a:rPr lang="en-US" dirty="0"/>
                  <a:t> la </a:t>
                </a:r>
                <a:r>
                  <a:rPr lang="en-US" dirty="0" err="1"/>
                  <a:t>acidez</a:t>
                </a:r>
                <a:r>
                  <a:rPr lang="en-US" dirty="0"/>
                  <a:t> es la </a:t>
                </a:r>
                <a:r>
                  <a:rPr lang="en-US" dirty="0" err="1"/>
                  <a:t>prioridad</a:t>
                </a:r>
                <a:r>
                  <a:rPr lang="en-US" dirty="0"/>
                  <a:t>; </a:t>
                </a:r>
                <a:r>
                  <a:rPr lang="en-US" dirty="0" err="1"/>
                  <a:t>si</a:t>
                </a:r>
                <a:r>
                  <a:rPr lang="en-US" dirty="0"/>
                  <a:t> el café es </a:t>
                </a:r>
                <a:r>
                  <a:rPr lang="en-US" dirty="0" err="1"/>
                  <a:t>agrio</a:t>
                </a:r>
                <a:r>
                  <a:rPr lang="en-US" dirty="0"/>
                  <a:t> (mala </a:t>
                </a:r>
                <a:r>
                  <a:rPr lang="en-US" dirty="0" err="1"/>
                  <a:t>acidez</a:t>
                </a:r>
                <a:r>
                  <a:rPr lang="en-US" dirty="0"/>
                  <a:t>), a la </a:t>
                </a:r>
                <a:r>
                  <a:rPr lang="en-US" dirty="0" err="1"/>
                  <a:t>gente</a:t>
                </a:r>
                <a:r>
                  <a:rPr lang="en-US" dirty="0"/>
                  <a:t> no le </a:t>
                </a:r>
                <a:r>
                  <a:rPr lang="en-US" dirty="0" err="1"/>
                  <a:t>gusta</a:t>
                </a:r>
                <a:r>
                  <a:rPr lang="en-US" dirty="0"/>
                  <a:t> (👎). Si la </a:t>
                </a:r>
                <a:r>
                  <a:rPr lang="en-US" dirty="0" err="1"/>
                  <a:t>acidez</a:t>
                </a:r>
                <a:r>
                  <a:rPr lang="en-US" dirty="0"/>
                  <a:t> es </a:t>
                </a:r>
                <a:r>
                  <a:rPr lang="en-US" dirty="0" err="1"/>
                  <a:t>buena</a:t>
                </a:r>
                <a:r>
                  <a:rPr lang="en-US" dirty="0"/>
                  <a:t>, la </a:t>
                </a:r>
                <a:r>
                  <a:rPr lang="en-US" dirty="0" err="1"/>
                  <a:t>gente</a:t>
                </a:r>
                <a:r>
                  <a:rPr lang="en-US" dirty="0"/>
                  <a:t> </a:t>
                </a:r>
                <a:r>
                  <a:rPr lang="en-US" dirty="0" err="1"/>
                  <a:t>exige</a:t>
                </a:r>
                <a:r>
                  <a:rPr lang="en-US" dirty="0"/>
                  <a:t> </a:t>
                </a:r>
                <a:r>
                  <a:rPr lang="en-US" dirty="0" err="1"/>
                  <a:t>que</a:t>
                </a:r>
                <a:r>
                  <a:rPr lang="en-US" dirty="0"/>
                  <a:t> </a:t>
                </a:r>
                <a:r>
                  <a:rPr lang="en-US" dirty="0" err="1"/>
                  <a:t>además</a:t>
                </a:r>
                <a:r>
                  <a:rPr lang="en-US" dirty="0"/>
                  <a:t> </a:t>
                </a:r>
                <a:r>
                  <a:rPr lang="en-US" dirty="0" err="1"/>
                  <a:t>esté</a:t>
                </a:r>
                <a:r>
                  <a:rPr lang="en-US" dirty="0"/>
                  <a:t> caliente (👍).</a:t>
                </a:r>
              </a:p>
              <a:p>
                <a:endParaRPr lang="en-US" dirty="0"/>
              </a:p>
              <a:p>
                <a:pPr lvl="1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 el café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tiene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mala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acidez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→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👎 No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gusta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(45 de 50 personas lo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rechazan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).</a:t>
                </a:r>
              </a:p>
              <a:p>
                <a:pPr lvl="1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 el café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tiene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buena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acidez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y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está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caliente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→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👍 Gusta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(28 de 30 personas lo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aprueban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).</a:t>
                </a:r>
              </a:p>
              <a:p>
                <a:pPr lvl="1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tiene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buena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acidez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pero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está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frío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→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👎 No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gusta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19926-F67F-9744-9168-D99BC660B58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1957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lvl="0"/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Lo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que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aprendió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el Árbol 2:</a:t>
                </a:r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lvl="1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Para la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gente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que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toma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café 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con leche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la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acidez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del café es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buena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→</m:t>
                    </m:r>
                  </m:oMath>
                </a14:m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👍 Gusta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(26 de 30).</a:t>
                </a:r>
              </a:p>
              <a:p>
                <a:pPr lvl="1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tiene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leche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pero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el café base es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demasiado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ácido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→</m:t>
                    </m:r>
                  </m:oMath>
                </a14:m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👎 No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gusta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(la leche no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logra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tapar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la mala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acidez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lvl="0"/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Lo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que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aprendió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el Árbol 2:</a:t>
                </a:r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lvl="1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Para la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gente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que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toma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café 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con leche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la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acidez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del café es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buena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→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👍 Gusta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(26 de 30).</a:t>
                </a:r>
              </a:p>
              <a:p>
                <a:pPr lvl="1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tiene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leche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pero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el café base es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demasiado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ácido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→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👎 No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gusta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(la leche no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logra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tapar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la mala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acidez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19926-F67F-9744-9168-D99BC660B58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4119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Lo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que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aprendió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el Árbol 3:</a:t>
                </a:r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lvl="0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 el café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está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caliente y dulce (con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azúcar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 </a:t>
                </a:r>
                <a14:m>
                  <m:oMath xmlns:m="http://schemas.openxmlformats.org/officeDocument/2006/math">
                    <m:r>
                      <a:rPr lang="en-US" sz="120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→</m:t>
                    </m:r>
                  </m:oMath>
                </a14:m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👍 Gusta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(31 de 35).</a:t>
                </a:r>
              </a:p>
              <a:p>
                <a:pPr lvl="0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está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caliente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pero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amargo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(sin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azúcar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 </a:t>
                </a:r>
                <a14:m>
                  <m:oMath xmlns:m="http://schemas.openxmlformats.org/officeDocument/2006/math">
                    <m:r>
                      <a:rPr lang="en-US" sz="120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→</m:t>
                    </m:r>
                  </m:oMath>
                </a14:m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👎 No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gusta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Lo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que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aprendió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el Árbol 3:</a:t>
                </a:r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lvl="0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 el café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está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caliente y dulce (con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azúcar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→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👍 Gusta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(31 de 35).</a:t>
                </a:r>
              </a:p>
              <a:p>
                <a:pPr lvl="0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está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caliente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pero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amargo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(sin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azúcar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→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👎 No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gusta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19926-F67F-9744-9168-D99BC660B58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6444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19926-F67F-9744-9168-D99BC660B58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232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EC4C2-9283-76C6-9F5F-30229F424B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FF2B81-FB27-5282-EE15-ECD5CEF518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0F3E25-2C30-70DA-6D84-0226D131A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DBCA4-1CB8-9B40-8BD8-4799BFFBEB2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BDA6AC-5E3B-EB77-67A1-793E41992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7C2C7-8083-FE57-65A3-44CAA9ED5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7D0CD-4D07-7347-B8ED-16FC2DCF1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804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09903-72DB-3641-5583-5B03D861F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9B741-2E2B-FCF5-7853-17C4778E0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E2A499-88F6-3438-9C7C-9931F9451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DBCA4-1CB8-9B40-8BD8-4799BFFBEB2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AFF542-1469-29B6-8002-3166A7D15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508E3-B31E-EAED-2B8A-A66E9EF2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7D0CD-4D07-7347-B8ED-16FC2DCF1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139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B0735-93DD-6AED-1601-18EFD8F97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7B72D3-D24F-5D63-1720-83736F14E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C92E3-1A0B-555B-AA05-E906BFE37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DBCA4-1CB8-9B40-8BD8-4799BFFBEB2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782414-B1EE-4670-A13B-F060484ED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1BA38-EBE2-3F52-49D3-FDDC1B6B3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7D0CD-4D07-7347-B8ED-16FC2DCF1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462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4BA88-2DA7-7242-C90E-E3BBD9BAD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193CD-3456-0DC1-7E6F-B6069383DA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34DD8B-2DF3-5974-3926-4B6AD76551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DA8D9D-3D9F-4A45-2098-4BD5C83AE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DBCA4-1CB8-9B40-8BD8-4799BFFBEB2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36E154-1613-70EB-934C-DC2742EF6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727A42-B791-CD5C-5FAB-8D940ADCB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7D0CD-4D07-7347-B8ED-16FC2DCF1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995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33C7A-6332-0717-8430-77E48C898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6C422F-E452-244D-A007-A49ACB06DB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19E692-5829-910D-A463-3629ACBFBF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2F6FD1-AA7B-6E21-6C7C-BDE717FC75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8644F6-E52D-48F3-F82E-9E79F23234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B189F9-4028-6F2E-C565-F61045983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DBCA4-1CB8-9B40-8BD8-4799BFFBEB2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AA4458-349C-CD7D-4222-802CE2789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65BC51-D290-07BB-4CD6-CCCC4EEDF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7D0CD-4D07-7347-B8ED-16FC2DCF1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41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9C4DF-3772-76D5-CE7A-E0F506664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B8743B-C3DD-5937-8AB6-7BD24061E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DBCA4-1CB8-9B40-8BD8-4799BFFBEB2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9D2325-0B40-4718-CBEC-D66A8AC94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68B9A4-C1C1-1F5B-F1E5-7D3DCCEA3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7D0CD-4D07-7347-B8ED-16FC2DCF1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355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E84A1-04DE-69CB-F37E-63347F0E1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DBCA4-1CB8-9B40-8BD8-4799BFFBEB2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5C6570-AB39-037D-2BB7-376E10B21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FF68A-2BF7-B18E-695C-45CE7B920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7D0CD-4D07-7347-B8ED-16FC2DCF1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15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FD6B6-C2CF-1EC3-DEC8-499D5EA29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7A493-E7C8-3BEF-4F89-7AC059BB3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9395C4-08AB-1EE5-E1EC-A83D22F990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0FD1FF-411E-0B0B-A767-3E9C80EE9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DBCA4-1CB8-9B40-8BD8-4799BFFBEB2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3A29A9-9E87-41CA-8544-E852114FA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B0A11F-45F8-C6BA-107D-D60CF08F2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7D0CD-4D07-7347-B8ED-16FC2DCF1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79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A5A6A-B88A-BB30-A3AB-51BB76C82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E53F29-6DA0-1206-503A-64AA407DEC1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0FA23A-24FF-641A-1EA2-8AFD69DD7D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86630F-E0DD-0599-4C24-473A22564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DBCA4-1CB8-9B40-8BD8-4799BFFBEB2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4E077-0660-8A4E-E6F4-64000F5EE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16CDC9-0046-1DA8-47BC-D228403A3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7D0CD-4D07-7347-B8ED-16FC2DCF1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645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1CC1A-789A-1848-8B7A-990F0DB1D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08AC1B-D58C-D8F2-C6FB-5E46A5ACF6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A1012-CA4C-7C55-D13C-E70FEFD81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DBCA4-1CB8-9B40-8BD8-4799BFFBEB2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78450-E885-1B60-994C-A4DECD5AC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F18D73-1043-90EA-A015-5F73820D3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7D0CD-4D07-7347-B8ED-16FC2DCF1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083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94A222-44C4-CFFA-EF85-76ABC2E0BC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C5B97C-7262-DCAE-6774-693F35D63B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E6CC49-8245-1F3F-7DA5-26D06CF74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DBCA4-1CB8-9B40-8BD8-4799BFFBEB2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A5D4DA-45D1-4918-79C0-58073EB45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E3A07-2DCB-8327-2C46-C6D0674F1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7D0CD-4D07-7347-B8ED-16FC2DCF1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968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37A667-E4AD-997E-FB09-DEB67DE78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D03A4C-8E84-2C7C-B8E0-470DD2CFCD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E6BB8-A078-3532-E4BC-258EB12EB6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1DBCA4-1CB8-9B40-8BD8-4799BFFBEB2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57139-6644-935D-ADD9-577336DAEA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4A4AC-3939-4716-2F1A-C1AF94F1E5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87D0CD-4D07-7347-B8ED-16FC2DCF1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863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555C5B3-193A-4749-9AFD-682E53CDD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EAE06A6-F76A-41C9-827A-C561B0044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3"/>
            <a:ext cx="12192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9F9D4E8-0639-444B-949B-951858506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0861" y="0"/>
            <a:ext cx="7661934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5000"/>
                </a:schemeClr>
              </a:gs>
              <a:gs pos="100000">
                <a:srgbClr val="000000">
                  <a:alpha val="29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3DA7A2-ED70-4BBA-AB72-00AD461FA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80862" y="-6"/>
            <a:ext cx="11711138" cy="6410334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rgbClr val="000000">
                  <a:alpha val="41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750269-2682-58E4-5487-675C66C3A5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7208" y="857251"/>
            <a:ext cx="4747280" cy="3098061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  <a:latin typeface="Book Antiqua" panose="02040602050305030304" pitchFamily="18" charset="0"/>
              </a:rPr>
              <a:t>Random Forest</a:t>
            </a:r>
            <a:br>
              <a:rPr lang="en-US" sz="4800" dirty="0">
                <a:solidFill>
                  <a:srgbClr val="FFFFFF"/>
                </a:solidFill>
                <a:latin typeface="Book Antiqua" panose="02040602050305030304" pitchFamily="18" charset="0"/>
              </a:rPr>
            </a:br>
            <a:r>
              <a:rPr lang="en-US" sz="2000" dirty="0">
                <a:solidFill>
                  <a:srgbClr val="FFFFFF"/>
                </a:solidFill>
                <a:latin typeface="Book Antiqua" panose="02040602050305030304" pitchFamily="18" charset="0"/>
              </a:rPr>
              <a:t>Prepared by: Sebastian Escobar-Alonso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C485432-3647-4218-B5D3-15D3FA222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44797" y="-489206"/>
            <a:ext cx="2502408" cy="12191998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8000">
                <a:schemeClr val="accent1">
                  <a:lumMod val="50000"/>
                  <a:alpha val="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D4EF8F-AB2E-376B-BEB4-EB22C30E79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7208" y="4756265"/>
            <a:ext cx="4393278" cy="1244483"/>
          </a:xfrm>
        </p:spPr>
        <p:txBody>
          <a:bodyPr>
            <a:norm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  <a:latin typeface="Book Antiqua" panose="02040602050305030304" pitchFamily="18" charset="0"/>
              </a:rPr>
              <a:t>EEMB 595R/194R R-Seminar</a:t>
            </a:r>
          </a:p>
          <a:p>
            <a:pPr algn="l"/>
            <a:r>
              <a:rPr lang="en-US" b="1">
                <a:solidFill>
                  <a:srgbClr val="FFFFFF"/>
                </a:solidFill>
                <a:latin typeface="Book Antiqua" panose="02040602050305030304" pitchFamily="18" charset="0"/>
              </a:rPr>
              <a:t>Oct 14, 2026</a:t>
            </a:r>
            <a:endParaRPr lang="en-US">
              <a:solidFill>
                <a:srgbClr val="FFFFFF"/>
              </a:solidFill>
              <a:latin typeface="Book Antiqua" panose="02040602050305030304" pitchFamily="18" charset="0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4AFDDCA-6ABA-4D23-8A5C-1BF0F4308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0589" y="1062544"/>
            <a:ext cx="4756162" cy="47561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220B6D-30AE-F80F-7D31-CAF053ABE2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691" t="19544" r="3584" b="11230"/>
          <a:stretch>
            <a:fillRect/>
          </a:stretch>
        </p:blipFill>
        <p:spPr>
          <a:xfrm>
            <a:off x="7319789" y="2108877"/>
            <a:ext cx="2938704" cy="265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024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19A05A-9FDA-91F7-9AC9-57310EBD0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kern="1200" dirty="0">
                <a:solidFill>
                  <a:schemeClr val="tx1"/>
                </a:solidFill>
                <a:latin typeface="Book Antiqua" panose="02040602050305030304" pitchFamily="18" charset="0"/>
              </a:rPr>
              <a:t>Data classification models</a:t>
            </a:r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7EA59E-8A08-0F56-A901-F4AD35263C43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dirty="0">
                <a:latin typeface="Book Antiqua" panose="02040602050305030304" pitchFamily="18" charset="0"/>
              </a:rPr>
              <a:t>Random Forest belongs to the family of supervised learning algorithms for classification and regression.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9227A6-3A1F-034B-1436-93F802EEF7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3"/>
          <a:stretch>
            <a:fillRect/>
          </a:stretch>
        </p:blipFill>
        <p:spPr>
          <a:xfrm>
            <a:off x="4654296" y="1503852"/>
            <a:ext cx="6903720" cy="3850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825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DFE1E-A58E-1B0C-36D0-686EBC479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446181" cy="1325563"/>
          </a:xfrm>
        </p:spPr>
        <p:txBody>
          <a:bodyPr/>
          <a:lstStyle/>
          <a:p>
            <a:r>
              <a:rPr lang="en-US" dirty="0">
                <a:latin typeface="Book Antiqua" panose="02040602050305030304" pitchFamily="18" charset="0"/>
              </a:rPr>
              <a:t>Decision Tree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F153416-E56A-4256-4112-9E9B7BBDA77B}"/>
              </a:ext>
            </a:extLst>
          </p:cNvPr>
          <p:cNvSpPr txBox="1">
            <a:spLocks/>
          </p:cNvSpPr>
          <p:nvPr/>
        </p:nvSpPr>
        <p:spPr>
          <a:xfrm>
            <a:off x="7251311" y="330061"/>
            <a:ext cx="444618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Book Antiqua" panose="02040602050305030304" pitchFamily="18" charset="0"/>
              </a:rPr>
              <a:t>Random Forest</a:t>
            </a:r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E6838B03-1322-2744-BA73-65991DCB0080}"/>
              </a:ext>
            </a:extLst>
          </p:cNvPr>
          <p:cNvSpPr/>
          <p:nvPr/>
        </p:nvSpPr>
        <p:spPr>
          <a:xfrm>
            <a:off x="5394449" y="2956302"/>
            <a:ext cx="1518834" cy="945396"/>
          </a:xfrm>
          <a:prstGeom prst="rightArrow">
            <a:avLst/>
          </a:prstGeom>
          <a:solidFill>
            <a:srgbClr val="30415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8FB27F2-C09A-9466-BD25-BCBB3EF828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89" t="19743" r="54233" b="11330"/>
          <a:stretch>
            <a:fillRect/>
          </a:stretch>
        </p:blipFill>
        <p:spPr>
          <a:xfrm>
            <a:off x="838200" y="1712911"/>
            <a:ext cx="4218223" cy="39992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5971F36-C03E-BC74-7C7C-6BDB4E382D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691" t="19544" r="3584" b="11230"/>
          <a:stretch>
            <a:fillRect/>
          </a:stretch>
        </p:blipFill>
        <p:spPr>
          <a:xfrm>
            <a:off x="7251310" y="1690688"/>
            <a:ext cx="4446789" cy="402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487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4FE2B-4348-4147-7B01-EB1CD188F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ook Antiqua" panose="02040602050305030304" pitchFamily="18" charset="0"/>
              </a:rPr>
              <a:t>Decision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75869-0542-52FF-12FC-9168FEF8D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8105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865304-7B3E-3611-90EF-BA5B836DEC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89" t="19743" r="54233" b="11330"/>
          <a:stretch>
            <a:fillRect/>
          </a:stretch>
        </p:blipFill>
        <p:spPr>
          <a:xfrm>
            <a:off x="6096000" y="583708"/>
            <a:ext cx="5728662" cy="54312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36BDDC-C8FF-7173-D941-494247D0A464}"/>
              </a:ext>
            </a:extLst>
          </p:cNvPr>
          <p:cNvSpPr txBox="1"/>
          <p:nvPr/>
        </p:nvSpPr>
        <p:spPr>
          <a:xfrm>
            <a:off x="838200" y="1690688"/>
            <a:ext cx="5257800" cy="432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buNone/>
            </a:pPr>
            <a:r>
              <a:rPr lang="en-US" sz="2000" b="0" i="0" dirty="0">
                <a:solidFill>
                  <a:schemeClr val="tx1"/>
                </a:solidFill>
                <a:effectLst/>
                <a:latin typeface="Book Antiqua" panose="02040602050305030304" pitchFamily="18" charset="0"/>
              </a:rPr>
              <a:t>A single model that makes decisions by following a unique sequence of rules from top to bottom.</a:t>
            </a:r>
          </a:p>
          <a:p>
            <a:pPr marL="0" marR="0" indent="0" algn="l">
              <a:spcBef>
                <a:spcPts val="1200"/>
              </a:spcBef>
              <a:buNone/>
            </a:pPr>
            <a:r>
              <a:rPr lang="en-US" sz="2000" b="0" i="0" dirty="0">
                <a:solidFill>
                  <a:schemeClr val="tx1"/>
                </a:solidFill>
                <a:effectLst/>
                <a:latin typeface="Book Antiqua" panose="02040602050305030304" pitchFamily="18" charset="0"/>
              </a:rPr>
              <a:t>A decision tree is a series of yes/no questions.</a:t>
            </a:r>
          </a:p>
          <a:p>
            <a:pPr marL="0" marR="0" indent="0" algn="l">
              <a:spcBef>
                <a:spcPts val="1200"/>
              </a:spcBef>
              <a:buNone/>
            </a:pPr>
            <a:r>
              <a:rPr lang="en-US" sz="2000" b="1" i="0" dirty="0">
                <a:solidFill>
                  <a:schemeClr val="tx1"/>
                </a:solidFill>
                <a:effectLst/>
                <a:latin typeface="Book Antiqua" panose="02040602050305030304" pitchFamily="18" charset="0"/>
              </a:rPr>
              <a:t>Example:</a:t>
            </a:r>
            <a:endParaRPr lang="en-US" sz="2000" b="0" i="0" dirty="0">
              <a:solidFill>
                <a:schemeClr val="tx1"/>
              </a:solidFill>
              <a:effectLst/>
              <a:latin typeface="Book Antiqua" panose="02040602050305030304" pitchFamily="18" charset="0"/>
            </a:endParaRPr>
          </a:p>
          <a:p>
            <a:pPr marL="0" marR="0" lvl="0" indent="-34290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tx1"/>
                </a:solidFill>
                <a:effectLst/>
                <a:latin typeface="Book Antiqua" panose="02040602050305030304" pitchFamily="18" charset="0"/>
              </a:rPr>
              <a:t>Is elevation &gt; 1,700 m? → Yes</a:t>
            </a:r>
          </a:p>
          <a:p>
            <a:pPr marL="0" marR="0" lvl="0" indent="-34290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tx1"/>
                </a:solidFill>
                <a:effectLst/>
                <a:latin typeface="Book Antiqua" panose="02040602050305030304" pitchFamily="18" charset="0"/>
              </a:rPr>
              <a:t>Is the temperature below 12 °C? → No</a:t>
            </a:r>
          </a:p>
          <a:p>
            <a:pPr marL="0" marR="0" lvl="0" indent="-34290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tx1"/>
                </a:solidFill>
                <a:effectLst/>
                <a:latin typeface="Book Antiqua" panose="02040602050305030304" pitchFamily="18" charset="0"/>
              </a:rPr>
              <a:t>Is rainfall greater than 700 mm? → Yes</a:t>
            </a:r>
          </a:p>
          <a:p>
            <a:pPr marL="0" marR="0" indent="0" algn="l">
              <a:spcBef>
                <a:spcPts val="1200"/>
              </a:spcBef>
              <a:buNone/>
            </a:pPr>
            <a:endParaRPr lang="en-US" sz="2000" b="1" i="0" dirty="0">
              <a:solidFill>
                <a:schemeClr val="tx1"/>
              </a:solidFill>
              <a:effectLst/>
              <a:latin typeface="Book Antiqua" panose="02040602050305030304" pitchFamily="18" charset="0"/>
            </a:endParaRPr>
          </a:p>
          <a:p>
            <a:pPr marL="0" marR="0" indent="0" algn="l">
              <a:spcBef>
                <a:spcPts val="1200"/>
              </a:spcBef>
              <a:buNone/>
            </a:pPr>
            <a:r>
              <a:rPr lang="en-US" sz="2000" b="1" i="0" dirty="0">
                <a:solidFill>
                  <a:schemeClr val="tx1"/>
                </a:solidFill>
                <a:effectLst/>
                <a:latin typeface="Book Antiqua" panose="02040602050305030304" pitchFamily="18" charset="0"/>
              </a:rPr>
              <a:t>Then the species is likely to be present.</a:t>
            </a:r>
            <a:endParaRPr lang="en-US" sz="1400" b="0" i="0" dirty="0">
              <a:solidFill>
                <a:srgbClr val="0D0D0D"/>
              </a:solidFill>
              <a:effectLst/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9108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3F548-C6E4-E34B-94CD-D7EB9CA3F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ook Antiqua" panose="02040602050305030304" pitchFamily="18" charset="0"/>
              </a:rPr>
              <a:t>Let’s talk about coffee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B73D1F-1979-42E9-04EE-2C5DDC3F2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912" y="1893422"/>
            <a:ext cx="4331715" cy="4375471"/>
          </a:xfrm>
          <a:prstGeom prst="rect">
            <a:avLst/>
          </a:prstGeom>
        </p:spPr>
      </p:pic>
      <p:sp>
        <p:nvSpPr>
          <p:cNvPr id="5" name="Right Arrow 4">
            <a:extLst>
              <a:ext uri="{FF2B5EF4-FFF2-40B4-BE49-F238E27FC236}">
                <a16:creationId xmlns:a16="http://schemas.microsoft.com/office/drawing/2014/main" id="{4C579BBD-0F6A-730F-E5D8-2211B32A854A}"/>
              </a:ext>
            </a:extLst>
          </p:cNvPr>
          <p:cNvSpPr/>
          <p:nvPr/>
        </p:nvSpPr>
        <p:spPr>
          <a:xfrm rot="5400000">
            <a:off x="8620735" y="3610413"/>
            <a:ext cx="964770" cy="783205"/>
          </a:xfrm>
          <a:prstGeom prst="rightArrow">
            <a:avLst/>
          </a:prstGeom>
          <a:solidFill>
            <a:srgbClr val="30415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B0258E-AF05-3888-80CC-CB6A0FCAB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7142" y="681037"/>
            <a:ext cx="1231900" cy="10658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92EBBD-7852-2ACA-5E81-93C62CEBC0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9617" y="681038"/>
            <a:ext cx="1231900" cy="10541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8613E9-B821-9228-8235-FB9606D793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7142" y="2100334"/>
            <a:ext cx="1231899" cy="9926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30F572-474A-FC9E-5F1E-8617C1F320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9617" y="2100333"/>
            <a:ext cx="1231900" cy="10195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F0945AF-EC01-6043-27B6-6E1C454E3C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0691" y="4658762"/>
            <a:ext cx="1746023" cy="174061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EE46E6A-BC7F-5D73-DD2E-D65364249DE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1931" y="4789250"/>
            <a:ext cx="1560443" cy="147964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377659A-A668-1A3B-E91E-2F9B3A8028EF}"/>
              </a:ext>
            </a:extLst>
          </p:cNvPr>
          <p:cNvSpPr txBox="1"/>
          <p:nvPr/>
        </p:nvSpPr>
        <p:spPr>
          <a:xfrm>
            <a:off x="9758904" y="3479474"/>
            <a:ext cx="24008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ook Antiqua" panose="02040602050305030304" pitchFamily="18" charset="0"/>
              </a:rPr>
              <a:t>We want to predict whether you’re going to like the coffee or not</a:t>
            </a:r>
          </a:p>
        </p:txBody>
      </p:sp>
    </p:spTree>
    <p:extLst>
      <p:ext uri="{BB962C8B-B14F-4D97-AF65-F5344CB8AC3E}">
        <p14:creationId xmlns:p14="http://schemas.microsoft.com/office/powerpoint/2010/main" val="3690691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D062F895-5AC0-26D9-E9FE-1FE8DCA6DBA2}"/>
              </a:ext>
            </a:extLst>
          </p:cNvPr>
          <p:cNvSpPr txBox="1"/>
          <p:nvPr/>
        </p:nvSpPr>
        <p:spPr>
          <a:xfrm>
            <a:off x="4585240" y="6216656"/>
            <a:ext cx="2273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ook Antiqua" panose="02040602050305030304" pitchFamily="18" charset="0"/>
              </a:rPr>
              <a:t>Continuous variable</a:t>
            </a: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59BB7DAA-F7C0-B5B9-C624-39279C469CA5}"/>
              </a:ext>
            </a:extLst>
          </p:cNvPr>
          <p:cNvSpPr/>
          <p:nvPr/>
        </p:nvSpPr>
        <p:spPr>
          <a:xfrm rot="16200000">
            <a:off x="5493749" y="5613598"/>
            <a:ext cx="554144" cy="449560"/>
          </a:xfrm>
          <a:prstGeom prst="rightArrow">
            <a:avLst/>
          </a:prstGeom>
          <a:solidFill>
            <a:srgbClr val="30415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D09EE3-72AC-C791-38A5-312DCFC33BDE}"/>
              </a:ext>
            </a:extLst>
          </p:cNvPr>
          <p:cNvSpPr txBox="1"/>
          <p:nvPr/>
        </p:nvSpPr>
        <p:spPr>
          <a:xfrm>
            <a:off x="6307955" y="6208478"/>
            <a:ext cx="1890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ook Antiqua" panose="02040602050305030304" pitchFamily="18" charset="0"/>
              </a:rPr>
              <a:t>Boolean variable</a:t>
            </a: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E07FCF68-0913-1E0C-7E06-D4051C3A6D38}"/>
              </a:ext>
            </a:extLst>
          </p:cNvPr>
          <p:cNvSpPr/>
          <p:nvPr/>
        </p:nvSpPr>
        <p:spPr>
          <a:xfrm rot="16200000">
            <a:off x="6976929" y="5428932"/>
            <a:ext cx="554144" cy="449560"/>
          </a:xfrm>
          <a:prstGeom prst="rightArrow">
            <a:avLst/>
          </a:prstGeom>
          <a:solidFill>
            <a:srgbClr val="30415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6ECDBE-7A28-8516-6306-501F027AE70F}"/>
              </a:ext>
            </a:extLst>
          </p:cNvPr>
          <p:cNvSpPr txBox="1"/>
          <p:nvPr/>
        </p:nvSpPr>
        <p:spPr>
          <a:xfrm>
            <a:off x="8845178" y="6267333"/>
            <a:ext cx="22317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ook Antiqua" panose="02040602050305030304" pitchFamily="18" charset="0"/>
              </a:rPr>
              <a:t>Categorical variable</a:t>
            </a:r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C579534F-6E76-26AD-8103-271EEE171C40}"/>
              </a:ext>
            </a:extLst>
          </p:cNvPr>
          <p:cNvSpPr/>
          <p:nvPr/>
        </p:nvSpPr>
        <p:spPr>
          <a:xfrm rot="16200000">
            <a:off x="9514152" y="5487787"/>
            <a:ext cx="554144" cy="449560"/>
          </a:xfrm>
          <a:prstGeom prst="rightArrow">
            <a:avLst/>
          </a:prstGeom>
          <a:solidFill>
            <a:srgbClr val="30415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D59B4B6-A90B-5ACE-D0AB-4AC2EBFDF0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1098" y="392859"/>
            <a:ext cx="6901684" cy="4882574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5F866EBB-9B4B-950C-2ECF-BD8A5F305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144520" cy="1325563"/>
          </a:xfrm>
        </p:spPr>
        <p:txBody>
          <a:bodyPr/>
          <a:lstStyle/>
          <a:p>
            <a:r>
              <a:rPr lang="en-US" dirty="0">
                <a:latin typeface="Book Antiqua" panose="02040602050305030304" pitchFamily="18" charset="0"/>
              </a:rPr>
              <a:t>Our data:</a:t>
            </a:r>
            <a:endParaRPr lang="en-US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30DB7E5D-FB18-AB27-DFD1-66B6CACCC9E4}"/>
              </a:ext>
            </a:extLst>
          </p:cNvPr>
          <p:cNvSpPr txBox="1">
            <a:spLocks/>
          </p:cNvSpPr>
          <p:nvPr/>
        </p:nvSpPr>
        <p:spPr>
          <a:xfrm>
            <a:off x="838200" y="1795304"/>
            <a:ext cx="3144520" cy="32673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Tx/>
              <a:buChar char="-"/>
            </a:pPr>
            <a:r>
              <a:rPr lang="en-US" sz="3200" dirty="0">
                <a:latin typeface="Book Antiqua" panose="02040602050305030304" pitchFamily="18" charset="0"/>
              </a:rPr>
              <a:t>12 cups = 12 surveyed people</a:t>
            </a:r>
          </a:p>
          <a:p>
            <a:endParaRPr lang="en-US" sz="3200" dirty="0">
              <a:latin typeface="Book Antiqua" panose="02040602050305030304" pitchFamily="18" charset="0"/>
            </a:endParaRPr>
          </a:p>
          <a:p>
            <a:pPr marL="457200" indent="-457200">
              <a:buFontTx/>
              <a:buChar char="-"/>
            </a:pPr>
            <a:r>
              <a:rPr lang="en-US" sz="3200" dirty="0">
                <a:latin typeface="Book Antiqua" panose="02040602050305030304" pitchFamily="18" charset="0"/>
              </a:rPr>
              <a:t>Four predictors</a:t>
            </a:r>
          </a:p>
          <a:p>
            <a:endParaRPr lang="en-US" sz="3200" dirty="0">
              <a:latin typeface="Book Antiqua" panose="02040602050305030304" pitchFamily="18" charset="0"/>
            </a:endParaRPr>
          </a:p>
          <a:p>
            <a:r>
              <a:rPr lang="en-US" sz="3200" dirty="0">
                <a:latin typeface="Book Antiqua" panose="02040602050305030304" pitchFamily="18" charset="0"/>
              </a:rPr>
              <a:t>- One outcome (Like it? = Yes or No)</a:t>
            </a:r>
          </a:p>
        </p:txBody>
      </p:sp>
    </p:spTree>
    <p:extLst>
      <p:ext uri="{BB962C8B-B14F-4D97-AF65-F5344CB8AC3E}">
        <p14:creationId xmlns:p14="http://schemas.microsoft.com/office/powerpoint/2010/main" val="2693531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3" grpId="0" animBg="1"/>
      <p:bldP spid="13" grpId="1" animBg="1"/>
      <p:bldP spid="14" grpId="0"/>
      <p:bldP spid="14" grpId="1"/>
      <p:bldP spid="15" grpId="0" animBg="1"/>
      <p:bldP spid="15" grpId="1" animBg="1"/>
      <p:bldP spid="16" grpId="0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155D95A-9743-CF3B-0116-C9E4D8A78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269" y="392988"/>
            <a:ext cx="7296793" cy="1255741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Book Antiqua" panose="02040602050305030304" pitchFamily="18" charset="0"/>
              </a:rPr>
              <a:t>What questions should I ask to predict whether you’ll like your coffee?</a:t>
            </a:r>
            <a:endParaRPr lang="en-US" sz="1600" dirty="0">
              <a:latin typeface="Book Antiqua" panose="0204060205030503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BB5609-56ED-E95F-E3D0-4960DC4B53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853" y="1755333"/>
            <a:ext cx="5285943" cy="368392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C089874-D6D7-365B-2E63-B3B22EBAF5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075"/>
          <a:stretch>
            <a:fillRect/>
          </a:stretch>
        </p:blipFill>
        <p:spPr>
          <a:xfrm>
            <a:off x="405269" y="1804283"/>
            <a:ext cx="6116994" cy="36349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2535EF7-10F3-7BC5-06B7-82DC4839F1FC}"/>
              </a:ext>
            </a:extLst>
          </p:cNvPr>
          <p:cNvSpPr txBox="1"/>
          <p:nvPr/>
        </p:nvSpPr>
        <p:spPr>
          <a:xfrm>
            <a:off x="298204" y="5717754"/>
            <a:ext cx="61891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ook Antiqua" panose="02040602050305030304" pitchFamily="18" charset="0"/>
              </a:rPr>
              <a:t>Milk and sugar were never used: after acidity and temperature, every cup was already classified.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EE2718-2B05-7FC0-0833-92B51CA936DA}"/>
              </a:ext>
            </a:extLst>
          </p:cNvPr>
          <p:cNvSpPr/>
          <p:nvPr/>
        </p:nvSpPr>
        <p:spPr>
          <a:xfrm>
            <a:off x="10556568" y="2125185"/>
            <a:ext cx="578586" cy="103474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CB7963-95C4-184E-F7CB-05F5AFBCE0D7}"/>
              </a:ext>
            </a:extLst>
          </p:cNvPr>
          <p:cNvSpPr txBox="1">
            <a:spLocks/>
          </p:cNvSpPr>
          <p:nvPr/>
        </p:nvSpPr>
        <p:spPr>
          <a:xfrm>
            <a:off x="10060276" y="468631"/>
            <a:ext cx="1571169" cy="9160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latin typeface="Book Antiqua" panose="02040602050305030304" pitchFamily="18" charset="0"/>
              </a:rPr>
              <a:t>It’s “pure”</a:t>
            </a:r>
          </a:p>
        </p:txBody>
      </p:sp>
      <p:sp>
        <p:nvSpPr>
          <p:cNvPr id="9" name="Down Arrow 8">
            <a:extLst>
              <a:ext uri="{FF2B5EF4-FFF2-40B4-BE49-F238E27FC236}">
                <a16:creationId xmlns:a16="http://schemas.microsoft.com/office/drawing/2014/main" id="{88909A0A-D1E1-170A-77EA-FE3644A0E04E}"/>
              </a:ext>
            </a:extLst>
          </p:cNvPr>
          <p:cNvSpPr/>
          <p:nvPr/>
        </p:nvSpPr>
        <p:spPr>
          <a:xfrm>
            <a:off x="10620346" y="1235951"/>
            <a:ext cx="400050" cy="44291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6690B1-1AF6-9937-76F2-D9DA8B73CBF1}"/>
              </a:ext>
            </a:extLst>
          </p:cNvPr>
          <p:cNvSpPr txBox="1"/>
          <p:nvPr/>
        </p:nvSpPr>
        <p:spPr>
          <a:xfrm>
            <a:off x="4080905" y="2633917"/>
            <a:ext cx="2178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Book Antiqua" panose="02040602050305030304" pitchFamily="18" charset="0"/>
              </a:rPr>
              <a:t>We need to classify 8 cups more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88274F-A785-1273-E51C-BACEADD8F6D2}"/>
              </a:ext>
            </a:extLst>
          </p:cNvPr>
          <p:cNvSpPr/>
          <p:nvPr/>
        </p:nvSpPr>
        <p:spPr>
          <a:xfrm>
            <a:off x="10531076" y="3236393"/>
            <a:ext cx="604077" cy="2202867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469B24-1A46-E433-480E-CEFC759D9FC6}"/>
              </a:ext>
            </a:extLst>
          </p:cNvPr>
          <p:cNvSpPr/>
          <p:nvPr/>
        </p:nvSpPr>
        <p:spPr>
          <a:xfrm>
            <a:off x="8477832" y="1755333"/>
            <a:ext cx="1320093" cy="36985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942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8" grpId="0"/>
      <p:bldP spid="9" grpId="0" animBg="1"/>
      <p:bldP spid="13" grpId="0"/>
      <p:bldP spid="14" grpId="0" animBg="1"/>
      <p:bldP spid="15" grpId="0" animBg="1"/>
      <p:bldP spid="15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4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D4C9DBF-474E-A58E-D0A3-6020ACC21D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1498"/>
          <a:stretch>
            <a:fillRect/>
          </a:stretch>
        </p:blipFill>
        <p:spPr>
          <a:xfrm>
            <a:off x="2071969" y="1479967"/>
            <a:ext cx="3227921" cy="36211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D3B67B-EF05-BC6D-A529-506721C270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497" r="1"/>
          <a:stretch>
            <a:fillRect/>
          </a:stretch>
        </p:blipFill>
        <p:spPr>
          <a:xfrm>
            <a:off x="6699982" y="1479967"/>
            <a:ext cx="3227922" cy="3621116"/>
          </a:xfrm>
          <a:prstGeom prst="rect">
            <a:avLst/>
          </a:prstGeom>
        </p:spPr>
      </p:pic>
      <p:sp>
        <p:nvSpPr>
          <p:cNvPr id="10" name="Right Arrow 9">
            <a:extLst>
              <a:ext uri="{FF2B5EF4-FFF2-40B4-BE49-F238E27FC236}">
                <a16:creationId xmlns:a16="http://schemas.microsoft.com/office/drawing/2014/main" id="{691267D3-EF0A-BB54-2632-515F44C3FF91}"/>
              </a:ext>
            </a:extLst>
          </p:cNvPr>
          <p:cNvSpPr/>
          <p:nvPr/>
        </p:nvSpPr>
        <p:spPr>
          <a:xfrm>
            <a:off x="5818928" y="2989379"/>
            <a:ext cx="554144" cy="44956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515EBF2-6074-55AC-CA0D-4CE0E1BE1A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1969" y="1479967"/>
            <a:ext cx="1253395" cy="12890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7372AF3-2DC6-039A-0E64-73D7DC161DE4}"/>
              </a:ext>
            </a:extLst>
          </p:cNvPr>
          <p:cNvSpPr txBox="1"/>
          <p:nvPr/>
        </p:nvSpPr>
        <p:spPr>
          <a:xfrm>
            <a:off x="2948623" y="5378033"/>
            <a:ext cx="6102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i="0" dirty="0">
                <a:solidFill>
                  <a:schemeClr val="bg1"/>
                </a:solidFill>
                <a:effectLst/>
                <a:latin typeface="Book Antiqua" panose="02040602050305030304" pitchFamily="18" charset="0"/>
              </a:rPr>
              <a:t>Instead of asking just one “barista”, let’s ask three.</a:t>
            </a:r>
            <a:endParaRPr lang="en-US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DC5820-BCAF-9B0E-78C9-003371FF3834}"/>
              </a:ext>
            </a:extLst>
          </p:cNvPr>
          <p:cNvSpPr txBox="1"/>
          <p:nvPr/>
        </p:nvSpPr>
        <p:spPr>
          <a:xfrm>
            <a:off x="2678610" y="680953"/>
            <a:ext cx="66426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To predict whether you're going to like a coffee or not…</a:t>
            </a:r>
          </a:p>
        </p:txBody>
      </p:sp>
    </p:spTree>
    <p:extLst>
      <p:ext uri="{BB962C8B-B14F-4D97-AF65-F5344CB8AC3E}">
        <p14:creationId xmlns:p14="http://schemas.microsoft.com/office/powerpoint/2010/main" val="2027783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3FDCB95-8BB9-6614-501C-D174B402986C}"/>
              </a:ext>
            </a:extLst>
          </p:cNvPr>
          <p:cNvSpPr txBox="1"/>
          <p:nvPr/>
        </p:nvSpPr>
        <p:spPr>
          <a:xfrm>
            <a:off x="578223" y="519971"/>
            <a:ext cx="53110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ook Antiqua" panose="02040602050305030304" pitchFamily="18" charset="0"/>
              </a:rPr>
              <a:t>In this time, we surveyed 200 people and asked each one if they like their coffee or not.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CBAF46-4CF6-CD1D-A8B7-58BA07B2D7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550"/>
          <a:stretch>
            <a:fillRect/>
          </a:stretch>
        </p:blipFill>
        <p:spPr>
          <a:xfrm>
            <a:off x="7230172" y="1566313"/>
            <a:ext cx="3978669" cy="446806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0A9D6D1-3305-88D5-9F08-F36FAD9E345D}"/>
              </a:ext>
            </a:extLst>
          </p:cNvPr>
          <p:cNvSpPr txBox="1"/>
          <p:nvPr/>
        </p:nvSpPr>
        <p:spPr>
          <a:xfrm>
            <a:off x="6994017" y="519971"/>
            <a:ext cx="44509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We’re going to create 3 decision trees (</a:t>
            </a:r>
            <a:r>
              <a:rPr lang="en-US" i="1" dirty="0" err="1">
                <a:solidFill>
                  <a:schemeClr val="bg1"/>
                </a:solidFill>
                <a:latin typeface="Book Antiqua" panose="02040602050305030304" pitchFamily="18" charset="0"/>
              </a:rPr>
              <a:t>ntree</a:t>
            </a:r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 = 3).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37CA0E0-FEE2-5EE3-C163-A1A38A32B7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223" y="1644320"/>
            <a:ext cx="5311080" cy="4433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27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1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6FD0E-B49B-77E4-38FE-AC71ED07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44351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Tree #1</a:t>
            </a:r>
          </a:p>
        </p:txBody>
      </p:sp>
      <p:sp>
        <p:nvSpPr>
          <p:cNvPr id="15" name="Left Bracket 14">
            <a:extLst>
              <a:ext uri="{FF2B5EF4-FFF2-40B4-BE49-F238E27FC236}">
                <a16:creationId xmlns:a16="http://schemas.microsoft.com/office/drawing/2014/main" id="{609CED06-5B3F-6EEA-4412-386EBF6358F1}"/>
              </a:ext>
            </a:extLst>
          </p:cNvPr>
          <p:cNvSpPr/>
          <p:nvPr/>
        </p:nvSpPr>
        <p:spPr>
          <a:xfrm rot="16200000">
            <a:off x="7639250" y="2226929"/>
            <a:ext cx="308880" cy="1415207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F4CE41-2BDA-68D6-2134-CD5C669C98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507" y="2001055"/>
            <a:ext cx="966757" cy="7790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AFB842-3BCB-C5AC-F17D-AB3710D93A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7485" y="1922775"/>
            <a:ext cx="977490" cy="83640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E3413DC-8549-94FA-6890-4945846397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6619" y="1928692"/>
            <a:ext cx="966758" cy="83640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D82FFF1-8D6B-7BD4-BFE0-375EDE16F1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9419" y="1907688"/>
            <a:ext cx="966758" cy="80007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8DE9602-B581-58D7-8CB4-1E484F3A4C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904" y="1699775"/>
            <a:ext cx="5680573" cy="3170552"/>
          </a:xfrm>
          <a:prstGeom prst="rect">
            <a:avLst/>
          </a:prstGeom>
        </p:spPr>
      </p:pic>
      <p:sp>
        <p:nvSpPr>
          <p:cNvPr id="27" name="Left Bracket 26">
            <a:extLst>
              <a:ext uri="{FF2B5EF4-FFF2-40B4-BE49-F238E27FC236}">
                <a16:creationId xmlns:a16="http://schemas.microsoft.com/office/drawing/2014/main" id="{D33D688B-89DF-32AF-31FE-5044E724046F}"/>
              </a:ext>
            </a:extLst>
          </p:cNvPr>
          <p:cNvSpPr/>
          <p:nvPr/>
        </p:nvSpPr>
        <p:spPr>
          <a:xfrm rot="16200000">
            <a:off x="9474321" y="4311795"/>
            <a:ext cx="432273" cy="2508458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AFF0466-74BA-7A90-8560-A95FE7C3BF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507" y="4570849"/>
            <a:ext cx="966757" cy="77903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0147F4FC-03CF-2699-8F93-3BED765012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7485" y="4546357"/>
            <a:ext cx="977490" cy="83640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20F7A0B-2D7B-57B6-7109-4CA8013B6E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6619" y="4552274"/>
            <a:ext cx="966758" cy="83640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AF74EBC-5475-2049-CC4A-C431FD45A6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9419" y="4531270"/>
            <a:ext cx="966758" cy="800075"/>
          </a:xfrm>
          <a:prstGeom prst="rect">
            <a:avLst/>
          </a:prstGeom>
        </p:spPr>
      </p:pic>
      <p:sp>
        <p:nvSpPr>
          <p:cNvPr id="32" name="Minus 31">
            <a:extLst>
              <a:ext uri="{FF2B5EF4-FFF2-40B4-BE49-F238E27FC236}">
                <a16:creationId xmlns:a16="http://schemas.microsoft.com/office/drawing/2014/main" id="{A93C3CD2-869A-3FDE-DEBC-226B67595EDA}"/>
              </a:ext>
            </a:extLst>
          </p:cNvPr>
          <p:cNvSpPr/>
          <p:nvPr/>
        </p:nvSpPr>
        <p:spPr>
          <a:xfrm rot="18723186">
            <a:off x="6304084" y="4627099"/>
            <a:ext cx="1741302" cy="609145"/>
          </a:xfrm>
          <a:prstGeom prst="mathMinus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B9CF0B-975D-B259-F94F-805F7C784101}"/>
              </a:ext>
            </a:extLst>
          </p:cNvPr>
          <p:cNvSpPr txBox="1"/>
          <p:nvPr/>
        </p:nvSpPr>
        <p:spPr>
          <a:xfrm>
            <a:off x="6714623" y="336641"/>
            <a:ext cx="4590592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ook Antiqua" panose="02040602050305030304" pitchFamily="18" charset="0"/>
              </a:rPr>
              <a:t>At every split, the tree gets a </a:t>
            </a:r>
            <a:r>
              <a:rPr lang="en-US" sz="2800" dirty="0">
                <a:solidFill>
                  <a:schemeClr val="bg1"/>
                </a:solidFill>
                <a:latin typeface="Book Antiqua" panose="02040602050305030304" pitchFamily="18" charset="0"/>
              </a:rPr>
              <a:t>random </a:t>
            </a:r>
            <a:r>
              <a:rPr lang="en-US" sz="2000" dirty="0">
                <a:solidFill>
                  <a:schemeClr val="bg1"/>
                </a:solidFill>
                <a:latin typeface="Book Antiqua" panose="02040602050305030304" pitchFamily="18" charset="0"/>
              </a:rPr>
              <a:t>subset of the variables (</a:t>
            </a:r>
            <a:r>
              <a:rPr lang="en-US" sz="2000" i="1" dirty="0" err="1">
                <a:solidFill>
                  <a:schemeClr val="bg1"/>
                </a:solidFill>
                <a:latin typeface="Book Antiqua" panose="02040602050305030304" pitchFamily="18" charset="0"/>
              </a:rPr>
              <a:t>mtry</a:t>
            </a:r>
            <a:r>
              <a:rPr lang="en-US" sz="2000" dirty="0">
                <a:solidFill>
                  <a:schemeClr val="bg1"/>
                </a:solidFill>
                <a:latin typeface="Book Antiqua" panose="02040602050305030304" pitchFamily="18" charset="0"/>
              </a:rPr>
              <a:t> of them).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C1F991-807B-0162-CD06-ADD8B602D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0311" y="3264486"/>
            <a:ext cx="966757" cy="7790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6B92557-0C9D-995E-6F0D-7C7444A3EE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8703" y="5902555"/>
            <a:ext cx="977490" cy="836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923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7" grpId="0" animBg="1"/>
      <p:bldP spid="32" grpId="0" animBg="1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E284B-706B-6962-DB54-1E67FB22E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Tree # 2</a:t>
            </a:r>
          </a:p>
        </p:txBody>
      </p:sp>
      <p:sp>
        <p:nvSpPr>
          <p:cNvPr id="3" name="Left Bracket 2">
            <a:extLst>
              <a:ext uri="{FF2B5EF4-FFF2-40B4-BE49-F238E27FC236}">
                <a16:creationId xmlns:a16="http://schemas.microsoft.com/office/drawing/2014/main" id="{170D0083-0CF0-47B6-5E68-B6721E65EE09}"/>
              </a:ext>
            </a:extLst>
          </p:cNvPr>
          <p:cNvSpPr/>
          <p:nvPr/>
        </p:nvSpPr>
        <p:spPr>
          <a:xfrm rot="16200000">
            <a:off x="10221870" y="1035519"/>
            <a:ext cx="276999" cy="1339274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8895A7-A4F4-AB0C-CB1A-2EBA80B1F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6837" y="764238"/>
            <a:ext cx="966757" cy="7790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727F3F-FA6F-C99D-F445-2AEC52AB8C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7815" y="685958"/>
            <a:ext cx="977490" cy="836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44BF799-95D9-73D7-FFDC-4CD50D372A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6949" y="691875"/>
            <a:ext cx="966758" cy="8364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8843DE-C6B8-5EE1-D8DD-0D0F7AA8FD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69749" y="670871"/>
            <a:ext cx="966758" cy="80007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F561E52-AB62-67CA-F1E2-0A4D1B427E6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8080"/>
          <a:stretch>
            <a:fillRect/>
          </a:stretch>
        </p:blipFill>
        <p:spPr>
          <a:xfrm>
            <a:off x="130312" y="1628240"/>
            <a:ext cx="6540679" cy="2770069"/>
          </a:xfrm>
          <a:prstGeom prst="rect">
            <a:avLst/>
          </a:prstGeom>
        </p:spPr>
      </p:pic>
      <p:sp>
        <p:nvSpPr>
          <p:cNvPr id="26" name="Left Bracket 25">
            <a:extLst>
              <a:ext uri="{FF2B5EF4-FFF2-40B4-BE49-F238E27FC236}">
                <a16:creationId xmlns:a16="http://schemas.microsoft.com/office/drawing/2014/main" id="{0B62F3E2-6C55-F1DC-3C63-FE01AB6244F8}"/>
              </a:ext>
            </a:extLst>
          </p:cNvPr>
          <p:cNvSpPr/>
          <p:nvPr/>
        </p:nvSpPr>
        <p:spPr>
          <a:xfrm rot="16200000">
            <a:off x="8077866" y="3842266"/>
            <a:ext cx="387825" cy="1318616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CBA7A7E-3090-755A-B28C-BA08648E00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1058" y="3484174"/>
            <a:ext cx="966757" cy="77903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760612F-C413-9DB8-B90E-47FD9C902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36" y="3459682"/>
            <a:ext cx="977490" cy="83640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01025E34-1719-DBF0-6CD9-242D82BBD1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1170" y="3465599"/>
            <a:ext cx="966758" cy="83640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DA4A6A9-0EEA-4D0F-14A3-07D9E0E998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63970" y="3444595"/>
            <a:ext cx="966758" cy="800075"/>
          </a:xfrm>
          <a:prstGeom prst="rect">
            <a:avLst/>
          </a:prstGeom>
        </p:spPr>
      </p:pic>
      <p:sp>
        <p:nvSpPr>
          <p:cNvPr id="31" name="Minus 30">
            <a:extLst>
              <a:ext uri="{FF2B5EF4-FFF2-40B4-BE49-F238E27FC236}">
                <a16:creationId xmlns:a16="http://schemas.microsoft.com/office/drawing/2014/main" id="{E795C8B2-EC08-FE79-DD84-E388E9D8CC08}"/>
              </a:ext>
            </a:extLst>
          </p:cNvPr>
          <p:cNvSpPr/>
          <p:nvPr/>
        </p:nvSpPr>
        <p:spPr>
          <a:xfrm rot="18723186">
            <a:off x="9209267" y="3629089"/>
            <a:ext cx="1741302" cy="609145"/>
          </a:xfrm>
          <a:prstGeom prst="mathMinus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3DC8F1-5813-C9BC-3107-C865AADA0D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6990" y="2147899"/>
            <a:ext cx="966758" cy="8364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F2C46D2-60B5-2F1C-62A6-FEAAF0EB41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8399" y="5010791"/>
            <a:ext cx="966757" cy="77903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68576F2-9630-AF6F-9E7C-95F735F774CA}"/>
              </a:ext>
            </a:extLst>
          </p:cNvPr>
          <p:cNvSpPr txBox="1"/>
          <p:nvPr/>
        </p:nvSpPr>
        <p:spPr>
          <a:xfrm>
            <a:off x="643524" y="5066553"/>
            <a:ext cx="579270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ook Antiqua" panose="02040602050305030304" pitchFamily="18" charset="0"/>
              </a:rPr>
              <a:t>Each tree gets its own </a:t>
            </a:r>
            <a:r>
              <a:rPr lang="en-US" sz="2800" dirty="0">
                <a:solidFill>
                  <a:schemeClr val="bg1"/>
                </a:solidFill>
                <a:latin typeface="Book Antiqua" panose="02040602050305030304" pitchFamily="18" charset="0"/>
              </a:rPr>
              <a:t>random</a:t>
            </a:r>
            <a:r>
              <a:rPr lang="en-US" sz="2000" dirty="0">
                <a:solidFill>
                  <a:schemeClr val="bg1"/>
                </a:solidFill>
                <a:latin typeface="Book Antiqua" panose="02040602050305030304" pitchFamily="18" charset="0"/>
              </a:rPr>
              <a:t> sample of the cups, drawn once at the start. About 63% of the 200 cups appear in it at least once (some appear more than once).</a:t>
            </a:r>
          </a:p>
        </p:txBody>
      </p:sp>
    </p:spTree>
    <p:extLst>
      <p:ext uri="{BB962C8B-B14F-4D97-AF65-F5344CB8AC3E}">
        <p14:creationId xmlns:p14="http://schemas.microsoft.com/office/powerpoint/2010/main" val="1642796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6" grpId="0" animBg="1"/>
      <p:bldP spid="31" grpId="0" animBg="1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6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3F3320-6B56-AA0A-D877-26FED5E5B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D0E6C-8C1F-05D3-77E3-D59152AC8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Tree # 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18D91E-0213-0F44-ED2D-7B18CCD397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58" y="1533089"/>
            <a:ext cx="6263867" cy="3496111"/>
          </a:xfrm>
          <a:prstGeom prst="rect">
            <a:avLst/>
          </a:prstGeom>
        </p:spPr>
      </p:pic>
      <p:sp>
        <p:nvSpPr>
          <p:cNvPr id="5" name="Left Bracket 4">
            <a:extLst>
              <a:ext uri="{FF2B5EF4-FFF2-40B4-BE49-F238E27FC236}">
                <a16:creationId xmlns:a16="http://schemas.microsoft.com/office/drawing/2014/main" id="{F4E6CAC1-290E-D1D1-3B12-6249B06FE19B}"/>
              </a:ext>
            </a:extLst>
          </p:cNvPr>
          <p:cNvSpPr/>
          <p:nvPr/>
        </p:nvSpPr>
        <p:spPr>
          <a:xfrm rot="16200000">
            <a:off x="9075892" y="536284"/>
            <a:ext cx="355477" cy="2458454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A40F1F-ABC9-CB4A-41E5-4C0358EDBA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9688" y="785354"/>
            <a:ext cx="966757" cy="7790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5C37A5B-43DA-B3A4-D61A-20ED7EA0A2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0666" y="707074"/>
            <a:ext cx="977490" cy="8364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238EBB-D6BD-C223-FFA3-540CE14A3D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9800" y="712991"/>
            <a:ext cx="966758" cy="8364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0F96347-A21F-2494-C0C7-4DFECBFF07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22600" y="691987"/>
            <a:ext cx="966758" cy="800075"/>
          </a:xfrm>
          <a:prstGeom prst="rect">
            <a:avLst/>
          </a:prstGeom>
        </p:spPr>
      </p:pic>
      <p:sp>
        <p:nvSpPr>
          <p:cNvPr id="17" name="Left Bracket 16">
            <a:extLst>
              <a:ext uri="{FF2B5EF4-FFF2-40B4-BE49-F238E27FC236}">
                <a16:creationId xmlns:a16="http://schemas.microsoft.com/office/drawing/2014/main" id="{EDA4B36F-A25A-B73D-3E79-B5E8CA6413AF}"/>
              </a:ext>
            </a:extLst>
          </p:cNvPr>
          <p:cNvSpPr/>
          <p:nvPr/>
        </p:nvSpPr>
        <p:spPr>
          <a:xfrm rot="16200000">
            <a:off x="8625886" y="2683834"/>
            <a:ext cx="387825" cy="3732494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8B045A2-1DAE-7804-F2F9-C7FE22A21A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2139" y="3532681"/>
            <a:ext cx="966757" cy="77903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6DFED98-40D4-C446-AC0E-D3A881C10C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3117" y="3508189"/>
            <a:ext cx="977490" cy="83640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99B8B8D-BA6D-8EFD-233B-9E9B815D0D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2251" y="3514106"/>
            <a:ext cx="966758" cy="83640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36C082A-15DF-DAF4-6692-CE994B1EBD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5051" y="3493102"/>
            <a:ext cx="966758" cy="800075"/>
          </a:xfrm>
          <a:prstGeom prst="rect">
            <a:avLst/>
          </a:prstGeom>
        </p:spPr>
      </p:pic>
      <p:sp>
        <p:nvSpPr>
          <p:cNvPr id="28" name="Minus 27">
            <a:extLst>
              <a:ext uri="{FF2B5EF4-FFF2-40B4-BE49-F238E27FC236}">
                <a16:creationId xmlns:a16="http://schemas.microsoft.com/office/drawing/2014/main" id="{F93F59A0-EFF9-D1A2-968C-74BDC1F9578C}"/>
              </a:ext>
            </a:extLst>
          </p:cNvPr>
          <p:cNvSpPr/>
          <p:nvPr/>
        </p:nvSpPr>
        <p:spPr>
          <a:xfrm rot="18723186">
            <a:off x="8611191" y="3627737"/>
            <a:ext cx="1741302" cy="609145"/>
          </a:xfrm>
          <a:prstGeom prst="mathMinus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A43A7BDE-0A4C-BD9A-39F4-FA24B1C9D0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9798" y="2202026"/>
            <a:ext cx="977490" cy="83640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B53277A-ECCD-5025-4883-D0FE8265C8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6419" y="5029200"/>
            <a:ext cx="966758" cy="8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121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A0F89B4-F13D-0955-ED70-97FD05872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900" y="1527603"/>
            <a:ext cx="2631748" cy="284549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CDC6D5-02C3-86C6-F5B5-3DA548EB3F7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1498"/>
          <a:stretch>
            <a:fillRect/>
          </a:stretch>
        </p:blipFill>
        <p:spPr>
          <a:xfrm>
            <a:off x="4954256" y="580665"/>
            <a:ext cx="1506118" cy="16895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323B96-057E-30D4-1DB5-647C55C441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1498"/>
          <a:stretch>
            <a:fillRect/>
          </a:stretch>
        </p:blipFill>
        <p:spPr>
          <a:xfrm>
            <a:off x="4954256" y="2655598"/>
            <a:ext cx="1506118" cy="16895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3A98E6-E16F-910F-A699-B0EAF745AAA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1498"/>
          <a:stretch>
            <a:fillRect/>
          </a:stretch>
        </p:blipFill>
        <p:spPr>
          <a:xfrm>
            <a:off x="4954256" y="4730532"/>
            <a:ext cx="1506118" cy="16895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6903992-FEA6-5C87-B092-A4564B11C541}"/>
              </a:ext>
            </a:extLst>
          </p:cNvPr>
          <p:cNvSpPr txBox="1"/>
          <p:nvPr/>
        </p:nvSpPr>
        <p:spPr>
          <a:xfrm>
            <a:off x="1527566" y="4659143"/>
            <a:ext cx="22890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000" b="1" dirty="0">
                <a:solidFill>
                  <a:schemeClr val="bg1"/>
                </a:solidFill>
                <a:latin typeface="Book Antiqua" panose="02040602050305030304" pitchFamily="18" charset="0"/>
              </a:rPr>
              <a:t>Acid (pH = 6.5)</a:t>
            </a:r>
            <a:endParaRPr lang="en-US" sz="2000" dirty="0">
              <a:solidFill>
                <a:schemeClr val="bg1"/>
              </a:solidFill>
              <a:latin typeface="Book Antiqua" panose="02040602050305030304" pitchFamily="18" charset="0"/>
            </a:endParaRPr>
          </a:p>
          <a:p>
            <a:pPr lvl="0"/>
            <a:r>
              <a:rPr lang="en-US" sz="2000" b="1" dirty="0">
                <a:solidFill>
                  <a:schemeClr val="bg1"/>
                </a:solidFill>
                <a:latin typeface="Book Antiqua" panose="02040602050305030304" pitchFamily="18" charset="0"/>
              </a:rPr>
              <a:t>Hot</a:t>
            </a:r>
            <a:endParaRPr lang="en-US" sz="2000" dirty="0">
              <a:solidFill>
                <a:schemeClr val="bg1"/>
              </a:solidFill>
              <a:latin typeface="Book Antiqua" panose="02040602050305030304" pitchFamily="18" charset="0"/>
            </a:endParaRPr>
          </a:p>
          <a:p>
            <a:pPr lvl="0"/>
            <a:r>
              <a:rPr lang="en-US" sz="2000" b="1" dirty="0">
                <a:solidFill>
                  <a:schemeClr val="bg1"/>
                </a:solidFill>
                <a:latin typeface="Book Antiqua" panose="02040602050305030304" pitchFamily="18" charset="0"/>
              </a:rPr>
              <a:t>Has milk</a:t>
            </a:r>
          </a:p>
          <a:p>
            <a:pPr lvl="0"/>
            <a:r>
              <a:rPr lang="en-US" sz="2000" b="1" dirty="0">
                <a:solidFill>
                  <a:schemeClr val="bg1"/>
                </a:solidFill>
                <a:latin typeface="Book Antiqua" panose="02040602050305030304" pitchFamily="18" charset="0"/>
              </a:rPr>
              <a:t>Has sugar</a:t>
            </a:r>
            <a:endParaRPr lang="en-US" sz="2000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AE6436-5CE0-5A4D-0639-A59E9500C229}"/>
              </a:ext>
            </a:extLst>
          </p:cNvPr>
          <p:cNvSpPr txBox="1"/>
          <p:nvPr/>
        </p:nvSpPr>
        <p:spPr>
          <a:xfrm>
            <a:off x="1527566" y="509277"/>
            <a:ext cx="168179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2800" b="1" dirty="0">
                <a:solidFill>
                  <a:schemeClr val="bg1"/>
                </a:solidFill>
                <a:latin typeface="Book Antiqua" panose="02040602050305030304" pitchFamily="18" charset="0"/>
              </a:rPr>
              <a:t>Your coffee:</a:t>
            </a:r>
          </a:p>
        </p:txBody>
      </p:sp>
      <p:sp>
        <p:nvSpPr>
          <p:cNvPr id="12" name="Equal 11">
            <a:extLst>
              <a:ext uri="{FF2B5EF4-FFF2-40B4-BE49-F238E27FC236}">
                <a16:creationId xmlns:a16="http://schemas.microsoft.com/office/drawing/2014/main" id="{B1AE749D-A66C-982B-0682-F0715F0BA94A}"/>
              </a:ext>
            </a:extLst>
          </p:cNvPr>
          <p:cNvSpPr/>
          <p:nvPr/>
        </p:nvSpPr>
        <p:spPr>
          <a:xfrm>
            <a:off x="6805963" y="1138583"/>
            <a:ext cx="717176" cy="573741"/>
          </a:xfrm>
          <a:prstGeom prst="mathEqual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Equal 14">
            <a:extLst>
              <a:ext uri="{FF2B5EF4-FFF2-40B4-BE49-F238E27FC236}">
                <a16:creationId xmlns:a16="http://schemas.microsoft.com/office/drawing/2014/main" id="{A53E99D5-702D-BB65-9075-93F61A0A34E3}"/>
              </a:ext>
            </a:extLst>
          </p:cNvPr>
          <p:cNvSpPr/>
          <p:nvPr/>
        </p:nvSpPr>
        <p:spPr>
          <a:xfrm>
            <a:off x="6842350" y="3213516"/>
            <a:ext cx="717176" cy="573741"/>
          </a:xfrm>
          <a:prstGeom prst="mathEqual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733A928-448E-8EB7-581B-A680F7C538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7185" y="2756012"/>
            <a:ext cx="1506118" cy="1688473"/>
          </a:xfrm>
          <a:prstGeom prst="rect">
            <a:avLst/>
          </a:prstGeom>
        </p:spPr>
      </p:pic>
      <p:sp>
        <p:nvSpPr>
          <p:cNvPr id="22" name="Equal 21">
            <a:extLst>
              <a:ext uri="{FF2B5EF4-FFF2-40B4-BE49-F238E27FC236}">
                <a16:creationId xmlns:a16="http://schemas.microsoft.com/office/drawing/2014/main" id="{01B13837-C2F3-2EB8-191C-3592CE61C406}"/>
              </a:ext>
            </a:extLst>
          </p:cNvPr>
          <p:cNvSpPr/>
          <p:nvPr/>
        </p:nvSpPr>
        <p:spPr>
          <a:xfrm>
            <a:off x="6859755" y="5288449"/>
            <a:ext cx="717176" cy="573741"/>
          </a:xfrm>
          <a:prstGeom prst="mathEqual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96B1EF3-E465-29FE-3E94-9FDA6689CF77}"/>
              </a:ext>
            </a:extLst>
          </p:cNvPr>
          <p:cNvSpPr txBox="1"/>
          <p:nvPr/>
        </p:nvSpPr>
        <p:spPr>
          <a:xfrm>
            <a:off x="6668740" y="657608"/>
            <a:ext cx="13267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000" b="1" dirty="0">
                <a:solidFill>
                  <a:schemeClr val="bg1"/>
                </a:solidFill>
                <a:latin typeface="Book Antiqua" panose="02040602050305030304" pitchFamily="18" charset="0"/>
              </a:rPr>
              <a:t>Acidic</a:t>
            </a:r>
            <a:endParaRPr lang="en-US" sz="2000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6088097-AE83-3EAB-62CD-0F946963120C}"/>
              </a:ext>
            </a:extLst>
          </p:cNvPr>
          <p:cNvSpPr txBox="1"/>
          <p:nvPr/>
        </p:nvSpPr>
        <p:spPr>
          <a:xfrm>
            <a:off x="9497418" y="1359094"/>
            <a:ext cx="13267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000" b="1" dirty="0" err="1">
                <a:solidFill>
                  <a:schemeClr val="bg1"/>
                </a:solidFill>
                <a:latin typeface="Book Antiqua" panose="02040602050305030304" pitchFamily="18" charset="0"/>
              </a:rPr>
              <a:t>Nop</a:t>
            </a:r>
            <a:endParaRPr lang="en-US" sz="2000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FB7E5A1-ACD1-8693-0DCC-89B2CDA9AEBD}"/>
              </a:ext>
            </a:extLst>
          </p:cNvPr>
          <p:cNvSpPr txBox="1"/>
          <p:nvPr/>
        </p:nvSpPr>
        <p:spPr>
          <a:xfrm>
            <a:off x="6492332" y="2546562"/>
            <a:ext cx="13267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2000" b="1" dirty="0">
                <a:solidFill>
                  <a:schemeClr val="bg1"/>
                </a:solidFill>
                <a:latin typeface="Book Antiqua" panose="02040602050305030304" pitchFamily="18" charset="0"/>
              </a:rPr>
              <a:t>Milk but acidic</a:t>
            </a:r>
            <a:endParaRPr lang="en-US" sz="2000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E154FC4-0D68-6A69-8484-0BD5E0FF7553}"/>
              </a:ext>
            </a:extLst>
          </p:cNvPr>
          <p:cNvSpPr txBox="1"/>
          <p:nvPr/>
        </p:nvSpPr>
        <p:spPr>
          <a:xfrm>
            <a:off x="11195001" y="3387147"/>
            <a:ext cx="13267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000" b="1" dirty="0" err="1">
                <a:solidFill>
                  <a:schemeClr val="bg1"/>
                </a:solidFill>
                <a:latin typeface="Book Antiqua" panose="02040602050305030304" pitchFamily="18" charset="0"/>
              </a:rPr>
              <a:t>Nop</a:t>
            </a:r>
            <a:endParaRPr lang="en-US" sz="2000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AFF6999-B78A-2F00-5E1C-5CCE03EE8734}"/>
              </a:ext>
            </a:extLst>
          </p:cNvPr>
          <p:cNvSpPr txBox="1"/>
          <p:nvPr/>
        </p:nvSpPr>
        <p:spPr>
          <a:xfrm>
            <a:off x="6487613" y="4781500"/>
            <a:ext cx="13267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2000" b="1" dirty="0">
                <a:solidFill>
                  <a:schemeClr val="bg1"/>
                </a:solidFill>
                <a:latin typeface="Book Antiqua" panose="02040602050305030304" pitchFamily="18" charset="0"/>
              </a:rPr>
              <a:t>Sweat</a:t>
            </a:r>
            <a:endParaRPr lang="en-US" sz="2000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4168CA9-0566-52F1-3758-476342521215}"/>
              </a:ext>
            </a:extLst>
          </p:cNvPr>
          <p:cNvSpPr txBox="1"/>
          <p:nvPr/>
        </p:nvSpPr>
        <p:spPr>
          <a:xfrm>
            <a:off x="9468142" y="5441627"/>
            <a:ext cx="13267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000" b="1" dirty="0">
                <a:solidFill>
                  <a:schemeClr val="bg1"/>
                </a:solidFill>
                <a:latin typeface="Book Antiqua" panose="02040602050305030304" pitchFamily="18" charset="0"/>
              </a:rPr>
              <a:t>Oh yeah!</a:t>
            </a:r>
            <a:endParaRPr lang="en-US" sz="2000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FB1CC20C-6401-FD0B-38B3-949A667566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6011" y="4730532"/>
            <a:ext cx="1506118" cy="173748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17246FEC-E56B-B316-787A-EA18A7FFB0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51033" y="509277"/>
            <a:ext cx="1756074" cy="1769687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60B99BD-F14F-7EA7-B6E9-7F8A2FB0D5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7107" y="2647636"/>
            <a:ext cx="1783027" cy="1796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815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1" grpId="0"/>
      <p:bldP spid="12" grpId="0" animBg="1"/>
      <p:bldP spid="15" grpId="0" animBg="1"/>
      <p:bldP spid="22" grpId="0" animBg="1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E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7BC96F-2F55-6925-015E-61B2CC372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9E675DD-A74E-7C52-4A44-096982B69E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550"/>
          <a:stretch>
            <a:fillRect/>
          </a:stretch>
        </p:blipFill>
        <p:spPr>
          <a:xfrm>
            <a:off x="1446059" y="1365090"/>
            <a:ext cx="3978669" cy="446806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478BF6-8306-A643-F0A8-94EA30C45DA3}"/>
              </a:ext>
            </a:extLst>
          </p:cNvPr>
          <p:cNvSpPr txBox="1"/>
          <p:nvPr/>
        </p:nvSpPr>
        <p:spPr>
          <a:xfrm>
            <a:off x="1209906" y="548638"/>
            <a:ext cx="44509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Book Antiqua" panose="02040602050305030304" pitchFamily="18" charset="0"/>
              </a:rPr>
              <a:t>Let’s vote!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329673-EC7D-3302-B840-32C49E0047CB}"/>
              </a:ext>
            </a:extLst>
          </p:cNvPr>
          <p:cNvSpPr txBox="1"/>
          <p:nvPr/>
        </p:nvSpPr>
        <p:spPr>
          <a:xfrm>
            <a:off x="6294964" y="401333"/>
            <a:ext cx="445097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Book Antiqua" panose="02040602050305030304" pitchFamily="18" charset="0"/>
              </a:rPr>
              <a:t>2 out of 3 said:</a:t>
            </a:r>
          </a:p>
          <a:p>
            <a:pPr algn="ctr"/>
            <a:r>
              <a:rPr lang="en-US" sz="3600" dirty="0" err="1">
                <a:solidFill>
                  <a:schemeClr val="bg1"/>
                </a:solidFill>
                <a:latin typeface="Book Antiqua" panose="02040602050305030304" pitchFamily="18" charset="0"/>
              </a:rPr>
              <a:t>Nop</a:t>
            </a:r>
            <a:endParaRPr lang="en-US" sz="3600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5716C0-2327-20C5-B161-8F2AE03B8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4076" y="3899200"/>
            <a:ext cx="2792752" cy="222442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34B1E4A-1E00-094B-0B96-6E3D94C8AA80}"/>
              </a:ext>
            </a:extLst>
          </p:cNvPr>
          <p:cNvSpPr txBox="1"/>
          <p:nvPr/>
        </p:nvSpPr>
        <p:spPr>
          <a:xfrm>
            <a:off x="5424728" y="2398791"/>
            <a:ext cx="61007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Book Antiqua" panose="02040602050305030304" pitchFamily="18" charset="0"/>
              </a:rPr>
              <a:t>That’s 66.7% chance that you will hate your coffee</a:t>
            </a:r>
          </a:p>
        </p:txBody>
      </p:sp>
    </p:spTree>
    <p:extLst>
      <p:ext uri="{BB962C8B-B14F-4D97-AF65-F5344CB8AC3E}">
        <p14:creationId xmlns:p14="http://schemas.microsoft.com/office/powerpoint/2010/main" val="3519147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FB21474-1C71-738E-F122-6F01D5892A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12" t="5140" r="3431" b="7706"/>
          <a:stretch>
            <a:fillRect/>
          </a:stretch>
        </p:blipFill>
        <p:spPr>
          <a:xfrm>
            <a:off x="4857750" y="597693"/>
            <a:ext cx="7162800" cy="566261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8155EC9-E131-5672-86EF-BF32B8E19962}"/>
              </a:ext>
            </a:extLst>
          </p:cNvPr>
          <p:cNvSpPr txBox="1"/>
          <p:nvPr/>
        </p:nvSpPr>
        <p:spPr>
          <a:xfrm>
            <a:off x="419100" y="909251"/>
            <a:ext cx="46863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Book Antiqua" panose="02040602050305030304" pitchFamily="18" charset="0"/>
              </a:rPr>
              <a:t>Now, l</a:t>
            </a:r>
            <a:r>
              <a:rPr lang="en-US" sz="4000" b="0" i="0" dirty="0">
                <a:solidFill>
                  <a:schemeClr val="bg1"/>
                </a:solidFill>
                <a:effectLst/>
                <a:latin typeface="Book Antiqua" panose="02040602050305030304" pitchFamily="18" charset="0"/>
              </a:rPr>
              <a:t>et’s make this a huge forest!</a:t>
            </a:r>
          </a:p>
          <a:p>
            <a:endParaRPr lang="en-US" sz="4000" dirty="0">
              <a:solidFill>
                <a:schemeClr val="bg1"/>
              </a:solidFill>
              <a:latin typeface="Book Antiqua" panose="02040602050305030304" pitchFamily="18" charset="0"/>
            </a:endParaRPr>
          </a:p>
          <a:p>
            <a:r>
              <a:rPr lang="en-US" sz="4000" b="0" i="0" dirty="0">
                <a:solidFill>
                  <a:schemeClr val="bg1"/>
                </a:solidFill>
                <a:effectLst/>
                <a:latin typeface="Book Antiqua" panose="02040602050305030304" pitchFamily="18" charset="0"/>
              </a:rPr>
              <a:t>(</a:t>
            </a:r>
            <a:r>
              <a:rPr lang="en-US" sz="4000" b="0" i="1" dirty="0" err="1">
                <a:solidFill>
                  <a:schemeClr val="bg1"/>
                </a:solidFill>
                <a:effectLst/>
                <a:latin typeface="Book Antiqua" panose="02040602050305030304" pitchFamily="18" charset="0"/>
              </a:rPr>
              <a:t>ntree</a:t>
            </a:r>
            <a:r>
              <a:rPr lang="en-US" sz="4000" b="0" i="0" dirty="0">
                <a:solidFill>
                  <a:schemeClr val="bg1"/>
                </a:solidFill>
                <a:effectLst/>
                <a:latin typeface="Book Antiqua" panose="02040602050305030304" pitchFamily="18" charset="0"/>
              </a:rPr>
              <a:t> = 500) </a:t>
            </a:r>
            <a:endParaRPr lang="en-US" sz="4000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8430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1885</TotalTime>
  <Words>1069</Words>
  <Application>Microsoft Macintosh PowerPoint</Application>
  <PresentationFormat>Widescreen</PresentationFormat>
  <Paragraphs>110</Paragraphs>
  <Slides>15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Book Antiqua</vt:lpstr>
      <vt:lpstr>Office Theme</vt:lpstr>
      <vt:lpstr>Random Forest Prepared by: Sebastian Escobar-Alonso</vt:lpstr>
      <vt:lpstr>Data classification models</vt:lpstr>
      <vt:lpstr>Decision Tree</vt:lpstr>
      <vt:lpstr>Decision Tree</vt:lpstr>
      <vt:lpstr>Let’s talk about coffee</vt:lpstr>
      <vt:lpstr>Our data:</vt:lpstr>
      <vt:lpstr>What questions should I ask to predict whether you’ll like your coffee?</vt:lpstr>
      <vt:lpstr>PowerPoint Presentation</vt:lpstr>
      <vt:lpstr>PowerPoint Presentation</vt:lpstr>
      <vt:lpstr>Tree #1</vt:lpstr>
      <vt:lpstr>Tree # 2</vt:lpstr>
      <vt:lpstr>Tree # 3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Escobar Alonso</dc:creator>
  <cp:lastModifiedBy>Sebastian Escobar Alonso</cp:lastModifiedBy>
  <cp:revision>16</cp:revision>
  <dcterms:created xsi:type="dcterms:W3CDTF">2026-10-12T15:38:28Z</dcterms:created>
  <dcterms:modified xsi:type="dcterms:W3CDTF">2026-10-14T17:45:42Z</dcterms:modified>
</cp:coreProperties>
</file>