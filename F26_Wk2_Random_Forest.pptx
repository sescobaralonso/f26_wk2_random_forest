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58" r:id="rId5"/>
    <p:sldId id="263" r:id="rId6"/>
    <p:sldId id="264" r:id="rId7"/>
    <p:sldId id="265" r:id="rId8"/>
    <p:sldId id="266" r:id="rId9"/>
    <p:sldId id="268" r:id="rId10"/>
    <p:sldId id="257" r:id="rId11"/>
    <p:sldId id="269" r:id="rId12"/>
    <p:sldId id="270" r:id="rId13"/>
    <p:sldId id="273" r:id="rId14"/>
    <p:sldId id="274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70890"/>
  </p:normalViewPr>
  <p:slideViewPr>
    <p:cSldViewPr snapToGrid="0">
      <p:cViewPr>
        <p:scale>
          <a:sx n="107" d="100"/>
          <a:sy n="107" d="100"/>
        </p:scale>
        <p:origin x="664" y="-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BAFCE-CAC5-1B45-8CC0-84C51507BED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19926-F67F-9744-9168-D99BC660B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60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01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pPr lvl="0"/>
                <a:r>
                  <a:rPr lang="en-US" dirty="0"/>
                  <a:t>El </a:t>
                </a:r>
                <a:r>
                  <a:rPr lang="en-US" dirty="0" err="1"/>
                  <a:t>algoritmo</a:t>
                </a:r>
                <a:r>
                  <a:rPr lang="en-US" dirty="0"/>
                  <a:t> </a:t>
                </a:r>
                <a:r>
                  <a:rPr lang="en-US" dirty="0" err="1"/>
                  <a:t>prueba</a:t>
                </a:r>
                <a:r>
                  <a:rPr lang="en-US" dirty="0"/>
                  <a:t> </a:t>
                </a:r>
                <a:r>
                  <a:rPr lang="en-US" dirty="0" err="1"/>
                  <a:t>todas</a:t>
                </a:r>
                <a:r>
                  <a:rPr lang="en-US" dirty="0"/>
                  <a:t> las variables </a:t>
                </a:r>
                <a:r>
                  <a:rPr lang="en-US" dirty="0" err="1"/>
                  <a:t>disponibles</a:t>
                </a:r>
                <a:r>
                  <a:rPr lang="en-US" dirty="0"/>
                  <a:t> (</a:t>
                </a:r>
                <a:r>
                  <a:rPr lang="en-US" i="1" dirty="0" err="1"/>
                  <a:t>Acidez</a:t>
                </a:r>
                <a:r>
                  <a:rPr lang="en-US" i="1" dirty="0"/>
                  <a:t>, </a:t>
                </a:r>
                <a:r>
                  <a:rPr lang="en-US" i="1" dirty="0" err="1"/>
                  <a:t>Temperatura</a:t>
                </a:r>
                <a:r>
                  <a:rPr lang="en-US" i="1" dirty="0"/>
                  <a:t>, Leche, </a:t>
                </a:r>
                <a:r>
                  <a:rPr lang="en-US" i="1" dirty="0" err="1"/>
                  <a:t>Azúcar</a:t>
                </a:r>
                <a:r>
                  <a:rPr lang="en-US" dirty="0"/>
                  <a:t>) y </a:t>
                </a:r>
                <a:r>
                  <a:rPr lang="en-US" dirty="0" err="1"/>
                  <a:t>calcula</a:t>
                </a:r>
                <a:r>
                  <a:rPr lang="en-US" dirty="0"/>
                  <a:t> </a:t>
                </a:r>
                <a:r>
                  <a:rPr lang="en-US" dirty="0" err="1"/>
                  <a:t>cuál</a:t>
                </a:r>
                <a:r>
                  <a:rPr lang="en-US" dirty="0"/>
                  <a:t> de </a:t>
                </a:r>
                <a:r>
                  <a:rPr lang="en-US" dirty="0" err="1"/>
                  <a:t>ellas</a:t>
                </a:r>
                <a:r>
                  <a:rPr lang="en-US" dirty="0"/>
                  <a:t> divide al </a:t>
                </a:r>
                <a:r>
                  <a:rPr lang="en-US" dirty="0" err="1"/>
                  <a:t>grupo</a:t>
                </a:r>
                <a:r>
                  <a:rPr lang="en-US" dirty="0"/>
                  <a:t> de forma </a:t>
                </a:r>
                <a:r>
                  <a:rPr lang="en-US" dirty="0" err="1"/>
                  <a:t>más</a:t>
                </a:r>
                <a:r>
                  <a:rPr lang="en-US" dirty="0"/>
                  <a:t> "pura" (</a:t>
                </a:r>
                <a:r>
                  <a:rPr lang="en-US" dirty="0" err="1"/>
                  <a:t>separa</a:t>
                </a:r>
                <a:r>
                  <a:rPr lang="en-US" dirty="0"/>
                  <a:t> </a:t>
                </a:r>
                <a:r>
                  <a:rPr lang="en-US" dirty="0" err="1"/>
                  <a:t>los</a:t>
                </a:r>
                <a:r>
                  <a:rPr lang="en-US" dirty="0"/>
                  <a:t> 👍 de </a:t>
                </a:r>
                <a:r>
                  <a:rPr lang="en-US" dirty="0" err="1"/>
                  <a:t>los</a:t>
                </a:r>
                <a:r>
                  <a:rPr lang="en-US" dirty="0"/>
                  <a:t> 👎 </a:t>
                </a:r>
                <a:r>
                  <a:rPr lang="en-US" dirty="0" err="1"/>
                  <a:t>en</a:t>
                </a:r>
                <a:r>
                  <a:rPr lang="en-US" dirty="0"/>
                  <a:t> dos </a:t>
                </a:r>
                <a:r>
                  <a:rPr lang="en-US" dirty="0" err="1"/>
                  <a:t>bandos</a:t>
                </a:r>
                <a:r>
                  <a:rPr lang="en-US" dirty="0"/>
                  <a:t> lo </a:t>
                </a:r>
                <a:r>
                  <a:rPr lang="en-US" dirty="0" err="1"/>
                  <a:t>más</a:t>
                </a:r>
                <a:r>
                  <a:rPr lang="en-US" dirty="0"/>
                  <a:t> </a:t>
                </a:r>
                <a:r>
                  <a:rPr lang="en-US" dirty="0" err="1"/>
                  <a:t>limpios</a:t>
                </a:r>
                <a:r>
                  <a:rPr lang="en-US" dirty="0"/>
                  <a:t> </a:t>
                </a:r>
                <a:r>
                  <a:rPr lang="en-US" dirty="0" err="1"/>
                  <a:t>posible</a:t>
                </a:r>
                <a:r>
                  <a:rPr lang="en-US" dirty="0"/>
                  <a:t>).</a:t>
                </a:r>
              </a:p>
              <a:p>
                <a:pPr lvl="0"/>
                <a:r>
                  <a:rPr lang="en-US" dirty="0" err="1"/>
                  <a:t>Descubre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el </a:t>
                </a:r>
                <a:r>
                  <a:rPr lang="en-US" b="1" dirty="0" err="1"/>
                  <a:t>químico</a:t>
                </a:r>
                <a:r>
                  <a:rPr lang="en-US" b="1" dirty="0"/>
                  <a:t>/</a:t>
                </a:r>
                <a:r>
                  <a:rPr lang="en-US" b="1" dirty="0" err="1"/>
                  <a:t>acidez</a:t>
                </a:r>
                <a:r>
                  <a:rPr lang="en-US" dirty="0"/>
                  <a:t> es la variable </a:t>
                </a:r>
                <a:r>
                  <a:rPr lang="en-US" dirty="0" err="1"/>
                  <a:t>dominante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b="1" dirty="0"/>
                  <a:t>Rama Izquierda (</a:t>
                </a:r>
                <a:r>
                  <a:rPr lang="en-US" b="1" dirty="0" err="1"/>
                  <a:t>Cumple</a:t>
                </a:r>
                <a:r>
                  <a:rPr lang="en-US" b="1" dirty="0"/>
                  <a:t> </a:t>
                </a:r>
                <a:r>
                  <a:rPr lang="en-US" b="1" dirty="0" err="1"/>
                  <a:t>acidez</a:t>
                </a:r>
                <a:r>
                  <a:rPr lang="en-US" b="1" dirty="0"/>
                  <a:t> / Es </a:t>
                </a:r>
                <a:r>
                  <a:rPr lang="en-US" b="1" dirty="0" err="1"/>
                  <a:t>adecuada</a:t>
                </a:r>
                <a:r>
                  <a:rPr lang="en-US" b="1" dirty="0"/>
                  <a:t>):</a:t>
                </a:r>
                <a:r>
                  <a:rPr lang="en-US" dirty="0"/>
                  <a:t> La persona </a:t>
                </a:r>
                <a:r>
                  <a:rPr lang="en-US" dirty="0" err="1"/>
                  <a:t>entra</a:t>
                </a:r>
                <a:r>
                  <a:rPr lang="en-US" dirty="0"/>
                  <a:t> al </a:t>
                </a:r>
                <a:r>
                  <a:rPr lang="en-US" dirty="0" err="1"/>
                  <a:t>filtro</a:t>
                </a:r>
                <a:r>
                  <a:rPr lang="en-US" dirty="0"/>
                  <a:t> de la </a:t>
                </a:r>
                <a:r>
                  <a:rPr lang="en-US" dirty="0" err="1"/>
                  <a:t>izquierda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b="1" dirty="0"/>
                  <a:t>Rama </a:t>
                </a:r>
                <a:r>
                  <a:rPr lang="en-US" b="1" dirty="0" err="1"/>
                  <a:t>Derecha</a:t>
                </a:r>
                <a:r>
                  <a:rPr lang="en-US" b="1" dirty="0"/>
                  <a:t> (No </a:t>
                </a:r>
                <a:r>
                  <a:rPr lang="en-US" b="1" dirty="0" err="1"/>
                  <a:t>cumple</a:t>
                </a:r>
                <a:r>
                  <a:rPr lang="en-US" b="1" dirty="0"/>
                  <a:t> </a:t>
                </a:r>
                <a:r>
                  <a:rPr lang="en-US" b="1" dirty="0" err="1"/>
                  <a:t>acidez</a:t>
                </a:r>
                <a:r>
                  <a:rPr lang="en-US" b="1" dirty="0"/>
                  <a:t> / Es </a:t>
                </a:r>
                <a:r>
                  <a:rPr lang="en-US" b="1" dirty="0" err="1"/>
                  <a:t>muy</a:t>
                </a:r>
                <a:r>
                  <a:rPr lang="en-US" b="1" dirty="0"/>
                  <a:t> </a:t>
                </a:r>
                <a:r>
                  <a:rPr lang="en-US" b="1" dirty="0" err="1"/>
                  <a:t>ácida</a:t>
                </a:r>
                <a:r>
                  <a:rPr lang="en-US" b="1" dirty="0"/>
                  <a:t>):</a:t>
                </a:r>
                <a:r>
                  <a:rPr lang="en-US" dirty="0"/>
                  <a:t> La persona </a:t>
                </a:r>
                <a:r>
                  <a:rPr lang="en-US" dirty="0" err="1"/>
                  <a:t>entra</a:t>
                </a:r>
                <a:r>
                  <a:rPr lang="en-US" dirty="0"/>
                  <a:t> al </a:t>
                </a:r>
                <a:r>
                  <a:rPr lang="en-US" dirty="0" err="1"/>
                  <a:t>filtro</a:t>
                </a:r>
                <a:r>
                  <a:rPr lang="en-US" dirty="0"/>
                  <a:t> de la </a:t>
                </a:r>
                <a:r>
                  <a:rPr lang="en-US" dirty="0" err="1"/>
                  <a:t>derecha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Diferentes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preguntas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para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diferentes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grupos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(Nivel 2 -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🌡️ vs. Leche 🐄):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 la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izquierda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(Café con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resuelta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Ahora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factor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crítico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para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decidir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 no es la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derecha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¡Directo a 👍!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es mala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izquierda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Aún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necesita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revisar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 la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derecha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(Café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demasiado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ácido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Como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es mala, 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algoritmo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evalúa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Leche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puede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cortar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disfrazar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NO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izquierda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El café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ácido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 negro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¡Directo a 👎!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SÍ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derecha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La leche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suaviza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falta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necesita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El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Filtro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Rescate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(Nivel 3 -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🧊):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El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aparece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dos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veces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tercer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nivel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porque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actúa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un "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correctivo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dos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situaciones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distintas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salvar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un café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mala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salvar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un café con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lvl="0"/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 ambos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casos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Sin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pPr lvl="0"/>
                <a:r>
                  <a:rPr lang="en-US" dirty="0"/>
                  <a:t>El </a:t>
                </a:r>
                <a:r>
                  <a:rPr lang="en-US" dirty="0" err="1"/>
                  <a:t>algoritmo</a:t>
                </a:r>
                <a:r>
                  <a:rPr lang="en-US" dirty="0"/>
                  <a:t> </a:t>
                </a:r>
                <a:r>
                  <a:rPr lang="en-US" dirty="0" err="1"/>
                  <a:t>prueba</a:t>
                </a:r>
                <a:r>
                  <a:rPr lang="en-US" dirty="0"/>
                  <a:t> </a:t>
                </a:r>
                <a:r>
                  <a:rPr lang="en-US" dirty="0" err="1"/>
                  <a:t>todas</a:t>
                </a:r>
                <a:r>
                  <a:rPr lang="en-US" dirty="0"/>
                  <a:t> las variables </a:t>
                </a:r>
                <a:r>
                  <a:rPr lang="en-US" dirty="0" err="1"/>
                  <a:t>disponibles</a:t>
                </a:r>
                <a:r>
                  <a:rPr lang="en-US" dirty="0"/>
                  <a:t> (</a:t>
                </a:r>
                <a:r>
                  <a:rPr lang="en-US" i="1" dirty="0" err="1"/>
                  <a:t>Acidez</a:t>
                </a:r>
                <a:r>
                  <a:rPr lang="en-US" i="1" dirty="0"/>
                  <a:t>, </a:t>
                </a:r>
                <a:r>
                  <a:rPr lang="en-US" i="1" dirty="0" err="1"/>
                  <a:t>Temperatura</a:t>
                </a:r>
                <a:r>
                  <a:rPr lang="en-US" i="1" dirty="0"/>
                  <a:t>, Leche, </a:t>
                </a:r>
                <a:r>
                  <a:rPr lang="en-US" i="1" dirty="0" err="1"/>
                  <a:t>Azúcar</a:t>
                </a:r>
                <a:r>
                  <a:rPr lang="en-US" dirty="0"/>
                  <a:t>) y </a:t>
                </a:r>
                <a:r>
                  <a:rPr lang="en-US" dirty="0" err="1"/>
                  <a:t>calcula</a:t>
                </a:r>
                <a:r>
                  <a:rPr lang="en-US" dirty="0"/>
                  <a:t> </a:t>
                </a:r>
                <a:r>
                  <a:rPr lang="en-US" dirty="0" err="1"/>
                  <a:t>cuál</a:t>
                </a:r>
                <a:r>
                  <a:rPr lang="en-US" dirty="0"/>
                  <a:t> de </a:t>
                </a:r>
                <a:r>
                  <a:rPr lang="en-US" dirty="0" err="1"/>
                  <a:t>ellas</a:t>
                </a:r>
                <a:r>
                  <a:rPr lang="en-US" dirty="0"/>
                  <a:t> divide al </a:t>
                </a:r>
                <a:r>
                  <a:rPr lang="en-US" dirty="0" err="1"/>
                  <a:t>grupo</a:t>
                </a:r>
                <a:r>
                  <a:rPr lang="en-US" dirty="0"/>
                  <a:t> de forma </a:t>
                </a:r>
                <a:r>
                  <a:rPr lang="en-US" dirty="0" err="1"/>
                  <a:t>más</a:t>
                </a:r>
                <a:r>
                  <a:rPr lang="en-US" dirty="0"/>
                  <a:t> "pura" (</a:t>
                </a:r>
                <a:r>
                  <a:rPr lang="en-US" dirty="0" err="1"/>
                  <a:t>separa</a:t>
                </a:r>
                <a:r>
                  <a:rPr lang="en-US" dirty="0"/>
                  <a:t> </a:t>
                </a:r>
                <a:r>
                  <a:rPr lang="en-US" dirty="0" err="1"/>
                  <a:t>los</a:t>
                </a:r>
                <a:r>
                  <a:rPr lang="en-US" dirty="0"/>
                  <a:t> 👍 de </a:t>
                </a:r>
                <a:r>
                  <a:rPr lang="en-US" dirty="0" err="1"/>
                  <a:t>los</a:t>
                </a:r>
                <a:r>
                  <a:rPr lang="en-US" dirty="0"/>
                  <a:t> 👎 </a:t>
                </a:r>
                <a:r>
                  <a:rPr lang="en-US" dirty="0" err="1"/>
                  <a:t>en</a:t>
                </a:r>
                <a:r>
                  <a:rPr lang="en-US" dirty="0"/>
                  <a:t> dos </a:t>
                </a:r>
                <a:r>
                  <a:rPr lang="en-US" dirty="0" err="1"/>
                  <a:t>bandos</a:t>
                </a:r>
                <a:r>
                  <a:rPr lang="en-US" dirty="0"/>
                  <a:t> lo </a:t>
                </a:r>
                <a:r>
                  <a:rPr lang="en-US" dirty="0" err="1"/>
                  <a:t>más</a:t>
                </a:r>
                <a:r>
                  <a:rPr lang="en-US" dirty="0"/>
                  <a:t> </a:t>
                </a:r>
                <a:r>
                  <a:rPr lang="en-US" dirty="0" err="1"/>
                  <a:t>limpios</a:t>
                </a:r>
                <a:r>
                  <a:rPr lang="en-US" dirty="0"/>
                  <a:t> </a:t>
                </a:r>
                <a:r>
                  <a:rPr lang="en-US" dirty="0" err="1"/>
                  <a:t>posible</a:t>
                </a:r>
                <a:r>
                  <a:rPr lang="en-US" dirty="0"/>
                  <a:t>).</a:t>
                </a:r>
              </a:p>
              <a:p>
                <a:pPr lvl="0"/>
                <a:r>
                  <a:rPr lang="en-US" dirty="0" err="1"/>
                  <a:t>Descubre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el </a:t>
                </a:r>
                <a:r>
                  <a:rPr lang="en-US" b="1" dirty="0" err="1"/>
                  <a:t>químico</a:t>
                </a:r>
                <a:r>
                  <a:rPr lang="en-US" b="1" dirty="0"/>
                  <a:t>/</a:t>
                </a:r>
                <a:r>
                  <a:rPr lang="en-US" b="1" dirty="0" err="1"/>
                  <a:t>acidez</a:t>
                </a:r>
                <a:r>
                  <a:rPr lang="en-US" dirty="0"/>
                  <a:t> es la variable </a:t>
                </a:r>
                <a:r>
                  <a:rPr lang="en-US" dirty="0" err="1"/>
                  <a:t>dominante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b="1" dirty="0"/>
                  <a:t>Rama Izquierda (</a:t>
                </a:r>
                <a:r>
                  <a:rPr lang="en-US" b="1" dirty="0" err="1"/>
                  <a:t>Cumple</a:t>
                </a:r>
                <a:r>
                  <a:rPr lang="en-US" b="1" dirty="0"/>
                  <a:t> </a:t>
                </a:r>
                <a:r>
                  <a:rPr lang="en-US" b="1" dirty="0" err="1"/>
                  <a:t>acidez</a:t>
                </a:r>
                <a:r>
                  <a:rPr lang="en-US" b="1" dirty="0"/>
                  <a:t> / Es </a:t>
                </a:r>
                <a:r>
                  <a:rPr lang="en-US" b="1" dirty="0" err="1"/>
                  <a:t>adecuada</a:t>
                </a:r>
                <a:r>
                  <a:rPr lang="en-US" b="1" dirty="0"/>
                  <a:t>):</a:t>
                </a:r>
                <a:r>
                  <a:rPr lang="en-US" dirty="0"/>
                  <a:t> La persona </a:t>
                </a:r>
                <a:r>
                  <a:rPr lang="en-US" dirty="0" err="1"/>
                  <a:t>entra</a:t>
                </a:r>
                <a:r>
                  <a:rPr lang="en-US" dirty="0"/>
                  <a:t> al </a:t>
                </a:r>
                <a:r>
                  <a:rPr lang="en-US" dirty="0" err="1"/>
                  <a:t>filtro</a:t>
                </a:r>
                <a:r>
                  <a:rPr lang="en-US" dirty="0"/>
                  <a:t> de la </a:t>
                </a:r>
                <a:r>
                  <a:rPr lang="en-US" dirty="0" err="1"/>
                  <a:t>izquierda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b="1" dirty="0"/>
                  <a:t>Rama </a:t>
                </a:r>
                <a:r>
                  <a:rPr lang="en-US" b="1" dirty="0" err="1"/>
                  <a:t>Derecha</a:t>
                </a:r>
                <a:r>
                  <a:rPr lang="en-US" b="1" dirty="0"/>
                  <a:t> (No </a:t>
                </a:r>
                <a:r>
                  <a:rPr lang="en-US" b="1" dirty="0" err="1"/>
                  <a:t>cumple</a:t>
                </a:r>
                <a:r>
                  <a:rPr lang="en-US" b="1" dirty="0"/>
                  <a:t> </a:t>
                </a:r>
                <a:r>
                  <a:rPr lang="en-US" b="1" dirty="0" err="1"/>
                  <a:t>acidez</a:t>
                </a:r>
                <a:r>
                  <a:rPr lang="en-US" b="1" dirty="0"/>
                  <a:t> / Es </a:t>
                </a:r>
                <a:r>
                  <a:rPr lang="en-US" b="1" dirty="0" err="1"/>
                  <a:t>muy</a:t>
                </a:r>
                <a:r>
                  <a:rPr lang="en-US" b="1" dirty="0"/>
                  <a:t> </a:t>
                </a:r>
                <a:r>
                  <a:rPr lang="en-US" b="1" dirty="0" err="1"/>
                  <a:t>ácida</a:t>
                </a:r>
                <a:r>
                  <a:rPr lang="en-US" b="1" dirty="0"/>
                  <a:t>):</a:t>
                </a:r>
                <a:r>
                  <a:rPr lang="en-US" dirty="0"/>
                  <a:t> La persona </a:t>
                </a:r>
                <a:r>
                  <a:rPr lang="en-US" dirty="0" err="1"/>
                  <a:t>entra</a:t>
                </a:r>
                <a:r>
                  <a:rPr lang="en-US" dirty="0"/>
                  <a:t> al </a:t>
                </a:r>
                <a:r>
                  <a:rPr lang="en-US" dirty="0" err="1"/>
                  <a:t>filtro</a:t>
                </a:r>
                <a:r>
                  <a:rPr lang="en-US" dirty="0"/>
                  <a:t> de la </a:t>
                </a:r>
                <a:r>
                  <a:rPr lang="en-US" dirty="0" err="1"/>
                  <a:t>derecha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Diferentes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preguntas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para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diferentes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grupos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(Nivel 2 -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🌡️ vs. Leche 🐄):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 la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izquierda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(Café con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resuelta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Ahora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factor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crítico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para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decidir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 no es la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derecha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¡Directo a 👍!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es mala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izquierda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→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Aún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necesita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revisar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 la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derecha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(Café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demasiado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ácido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Como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es mala, 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algoritmo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evalúa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Leche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puede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cortar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disfrazar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NO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izquierda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El café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ácido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 negro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¡Directo a 👎!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SÍ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derecha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La leche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suaviza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falta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necesita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El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Filtro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Rescate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(Nivel 3 -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🧊):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El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aparece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dos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veces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tercer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nivel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porque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actúa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un "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correctivo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dos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situaciones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distintas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salvar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un café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mala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temperatura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salvar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un café con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ya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pPr lvl="0"/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 ambos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casos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Sin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; 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19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 err="1"/>
              <a:t>Inestabilidad</a:t>
            </a:r>
            <a:r>
              <a:rPr lang="en-US" b="1" dirty="0"/>
              <a:t> (</a:t>
            </a:r>
            <a:r>
              <a:rPr lang="en-US" b="1" i="1" dirty="0"/>
              <a:t>High Variance</a:t>
            </a:r>
            <a:r>
              <a:rPr lang="en-US" b="1" dirty="0"/>
              <a:t>):</a:t>
            </a:r>
            <a:r>
              <a:rPr lang="en-US" dirty="0"/>
              <a:t> Si al árbol de la imagen le </a:t>
            </a:r>
            <a:r>
              <a:rPr lang="en-US" dirty="0" err="1"/>
              <a:t>cambias</a:t>
            </a:r>
            <a:r>
              <a:rPr lang="en-US" dirty="0"/>
              <a:t> solo 5 personas de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encuesta</a:t>
            </a:r>
            <a:r>
              <a:rPr lang="en-US" dirty="0"/>
              <a:t> de campo, la </a:t>
            </a:r>
            <a:r>
              <a:rPr lang="en-US" dirty="0" err="1"/>
              <a:t>matemática</a:t>
            </a:r>
            <a:r>
              <a:rPr lang="en-US" dirty="0"/>
              <a:t> de </a:t>
            </a:r>
            <a:r>
              <a:rPr lang="en-US" i="1" dirty="0"/>
              <a:t>Gini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decidir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ahora</a:t>
            </a:r>
            <a:r>
              <a:rPr lang="en-US" dirty="0"/>
              <a:t> la "Leche" </a:t>
            </a:r>
            <a:r>
              <a:rPr lang="en-US" dirty="0" err="1"/>
              <a:t>separa</a:t>
            </a:r>
            <a:r>
              <a:rPr lang="en-US" dirty="0"/>
              <a:t> </a:t>
            </a:r>
            <a:r>
              <a:rPr lang="en-US" dirty="0" err="1"/>
              <a:t>mejor</a:t>
            </a:r>
            <a:r>
              <a:rPr lang="en-US" dirty="0"/>
              <a:t> a la </a:t>
            </a:r>
            <a:r>
              <a:rPr lang="en-US" dirty="0" err="1"/>
              <a:t>gente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"</a:t>
            </a:r>
            <a:r>
              <a:rPr lang="en-US" dirty="0" err="1"/>
              <a:t>Acidez</a:t>
            </a:r>
            <a:r>
              <a:rPr lang="en-US" dirty="0"/>
              <a:t>". Toda la </a:t>
            </a:r>
            <a:r>
              <a:rPr lang="en-US" dirty="0" err="1"/>
              <a:t>estructura</a:t>
            </a:r>
            <a:r>
              <a:rPr lang="en-US" dirty="0"/>
              <a:t> del árbol cambia de forma </a:t>
            </a:r>
            <a:r>
              <a:rPr lang="en-US" dirty="0" err="1"/>
              <a:t>drástica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la </a:t>
            </a:r>
            <a:r>
              <a:rPr lang="en-US" dirty="0" err="1"/>
              <a:t>raíz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b="1" dirty="0" err="1"/>
              <a:t>Terquedad</a:t>
            </a:r>
            <a:r>
              <a:rPr lang="en-US" b="1" dirty="0"/>
              <a:t> (</a:t>
            </a:r>
            <a:r>
              <a:rPr lang="en-US" b="1" i="1" dirty="0"/>
              <a:t>Overfitting / </a:t>
            </a:r>
            <a:r>
              <a:rPr lang="en-US" b="1" i="1" dirty="0" err="1"/>
              <a:t>Sobreajuste</a:t>
            </a:r>
            <a:r>
              <a:rPr lang="en-US" b="1" dirty="0"/>
              <a:t>):</a:t>
            </a:r>
            <a:r>
              <a:rPr lang="en-US" dirty="0"/>
              <a:t> Si </a:t>
            </a:r>
            <a:r>
              <a:rPr lang="en-US" dirty="0" err="1"/>
              <a:t>dejas</a:t>
            </a:r>
            <a:r>
              <a:rPr lang="en-US" dirty="0"/>
              <a:t> </a:t>
            </a:r>
            <a:r>
              <a:rPr lang="en-US" dirty="0" err="1"/>
              <a:t>crecer</a:t>
            </a:r>
            <a:r>
              <a:rPr lang="en-US" dirty="0"/>
              <a:t> un solo árbol sin </a:t>
            </a:r>
            <a:r>
              <a:rPr lang="en-US" dirty="0" err="1"/>
              <a:t>límites</a:t>
            </a:r>
            <a:r>
              <a:rPr lang="en-US" dirty="0"/>
              <a:t>, </a:t>
            </a:r>
            <a:r>
              <a:rPr lang="en-US" dirty="0" err="1"/>
              <a:t>creará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regla</a:t>
            </a:r>
            <a:r>
              <a:rPr lang="en-US" dirty="0"/>
              <a:t> </a:t>
            </a:r>
            <a:r>
              <a:rPr lang="en-US" dirty="0" err="1"/>
              <a:t>específica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detalle</a:t>
            </a:r>
            <a:r>
              <a:rPr lang="en-US" dirty="0"/>
              <a:t> </a:t>
            </a:r>
            <a:r>
              <a:rPr lang="en-US" dirty="0" err="1"/>
              <a:t>absurdo</a:t>
            </a:r>
            <a:r>
              <a:rPr lang="en-US" dirty="0"/>
              <a:t> de </a:t>
            </a:r>
            <a:r>
              <a:rPr lang="en-US" dirty="0" err="1"/>
              <a:t>tus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(</a:t>
            </a:r>
            <a:r>
              <a:rPr lang="en-US" dirty="0" err="1"/>
              <a:t>memoriza</a:t>
            </a:r>
            <a:r>
              <a:rPr lang="en-US" dirty="0"/>
              <a:t> el </a:t>
            </a:r>
            <a:r>
              <a:rPr lang="en-US" dirty="0" err="1"/>
              <a:t>ruido</a:t>
            </a:r>
            <a:r>
              <a:rPr lang="en-US" dirty="0"/>
              <a:t> de la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de </a:t>
            </a:r>
            <a:r>
              <a:rPr lang="en-US" dirty="0" err="1"/>
              <a:t>aprender</a:t>
            </a:r>
            <a:r>
              <a:rPr lang="en-US" dirty="0"/>
              <a:t> la </a:t>
            </a:r>
            <a:r>
              <a:rPr lang="en-US" dirty="0" err="1"/>
              <a:t>tendencia</a:t>
            </a:r>
            <a:r>
              <a:rPr lang="en-US" dirty="0"/>
              <a:t> general).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relaciona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con Random Forest?</a:t>
            </a:r>
          </a:p>
          <a:p>
            <a:r>
              <a:rPr lang="en-US" dirty="0"/>
              <a:t>Un árbol individual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flujo</a:t>
            </a:r>
            <a:r>
              <a:rPr lang="en-US" dirty="0"/>
              <a:t> </a:t>
            </a:r>
            <a:r>
              <a:rPr lang="en-US" dirty="0" err="1"/>
              <a:t>fijo</a:t>
            </a:r>
            <a:r>
              <a:rPr lang="en-US" dirty="0"/>
              <a:t>: </a:t>
            </a:r>
            <a:r>
              <a:rPr lang="en-US" dirty="0" err="1"/>
              <a:t>si</a:t>
            </a:r>
            <a:r>
              <a:rPr lang="en-US" dirty="0"/>
              <a:t> el café es </a:t>
            </a:r>
            <a:r>
              <a:rPr lang="en-US" dirty="0" err="1"/>
              <a:t>ácido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leche y </a:t>
            </a:r>
            <a:r>
              <a:rPr lang="en-US" dirty="0" err="1"/>
              <a:t>azúcar</a:t>
            </a:r>
            <a:r>
              <a:rPr lang="en-US" dirty="0"/>
              <a:t>, la </a:t>
            </a:r>
            <a:r>
              <a:rPr lang="en-US" dirty="0" err="1"/>
              <a:t>predicción</a:t>
            </a:r>
            <a:r>
              <a:rPr lang="en-US" dirty="0"/>
              <a:t>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👍. </a:t>
            </a:r>
          </a:p>
          <a:p>
            <a:r>
              <a:rPr lang="en-US" dirty="0"/>
              <a:t>En un Random Forest (500 </a:t>
            </a:r>
            <a:r>
              <a:rPr lang="en-US" dirty="0" err="1"/>
              <a:t>árboles</a:t>
            </a:r>
            <a:r>
              <a:rPr lang="en-US" dirty="0"/>
              <a:t>):</a:t>
            </a:r>
          </a:p>
          <a:p>
            <a:r>
              <a:rPr lang="en-US" dirty="0"/>
              <a:t>El Árbol 1 </a:t>
            </a:r>
            <a:r>
              <a:rPr lang="en-US" dirty="0" err="1"/>
              <a:t>evaluará</a:t>
            </a:r>
            <a:r>
              <a:rPr lang="en-US" dirty="0"/>
              <a:t> la </a:t>
            </a:r>
            <a:r>
              <a:rPr lang="en-US" dirty="0" err="1"/>
              <a:t>Acidez</a:t>
            </a:r>
            <a:r>
              <a:rPr lang="en-US" dirty="0"/>
              <a:t> primero. </a:t>
            </a:r>
          </a:p>
          <a:p>
            <a:r>
              <a:rPr lang="en-US" dirty="0"/>
              <a:t>Al Árbol 2 no se le </a:t>
            </a:r>
            <a:r>
              <a:rPr lang="en-US" dirty="0" err="1"/>
              <a:t>permitirá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la </a:t>
            </a:r>
            <a:r>
              <a:rPr lang="en-US" dirty="0" err="1"/>
              <a:t>Acidez</a:t>
            </a:r>
            <a:r>
              <a:rPr lang="en-US" dirty="0"/>
              <a:t> (</a:t>
            </a:r>
            <a:r>
              <a:rPr lang="en-US" dirty="0" err="1"/>
              <a:t>por</a:t>
            </a:r>
            <a:r>
              <a:rPr lang="en-US" dirty="0"/>
              <a:t> el </a:t>
            </a:r>
            <a:r>
              <a:rPr lang="en-US" dirty="0" err="1"/>
              <a:t>parámetro</a:t>
            </a:r>
            <a:r>
              <a:rPr lang="en-US" dirty="0"/>
              <a:t> </a:t>
            </a:r>
            <a:r>
              <a:rPr lang="en-US" dirty="0" err="1"/>
              <a:t>mtry</a:t>
            </a:r>
            <a:r>
              <a:rPr lang="en-US" dirty="0"/>
              <a:t>) y </a:t>
            </a:r>
            <a:r>
              <a:rPr lang="en-US" dirty="0" err="1"/>
              <a:t>empezará</a:t>
            </a:r>
            <a:r>
              <a:rPr lang="en-US" dirty="0"/>
              <a:t> </a:t>
            </a:r>
            <a:r>
              <a:rPr lang="en-US" dirty="0" err="1"/>
              <a:t>preguntando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Leche. </a:t>
            </a:r>
          </a:p>
          <a:p>
            <a:r>
              <a:rPr lang="en-US" dirty="0"/>
              <a:t>Al final, el bosque </a:t>
            </a:r>
            <a:r>
              <a:rPr lang="en-US" dirty="0" err="1"/>
              <a:t>promedio</a:t>
            </a:r>
            <a:r>
              <a:rPr lang="en-US" dirty="0"/>
              <a:t> </a:t>
            </a:r>
            <a:r>
              <a:rPr lang="en-US" dirty="0" err="1"/>
              <a:t>sopesará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rutas</a:t>
            </a:r>
            <a:r>
              <a:rPr lang="en-US" dirty="0"/>
              <a:t> para </a:t>
            </a:r>
            <a:r>
              <a:rPr lang="en-US" dirty="0" err="1"/>
              <a:t>darte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probabilidad</a:t>
            </a:r>
            <a:r>
              <a:rPr lang="en-US" dirty="0"/>
              <a:t> </a:t>
            </a:r>
            <a:r>
              <a:rPr lang="en-US" dirty="0" err="1"/>
              <a:t>sólida</a:t>
            </a:r>
            <a:r>
              <a:rPr lang="en-US" dirty="0"/>
              <a:t> y </a:t>
            </a:r>
            <a:r>
              <a:rPr lang="en-US" dirty="0" err="1"/>
              <a:t>estable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Cómo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relaciona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Random Forest?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árbol individual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flujo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fijo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café 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ácido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leche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azúcar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predicción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siempre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👍.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un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 (500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árboles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Árbol 1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Acidez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primero.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 Árbol 2 no se 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permitirá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Acidez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parámetro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mtry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empezará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preguntando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Leche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 final, el bosque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promedio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sopesará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rutas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probabilidad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sólida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/>
            <a:r>
              <a:rPr lang="en-US" dirty="0"/>
              <a:t>En </a:t>
            </a:r>
            <a:r>
              <a:rPr lang="en-US" b="1" dirty="0"/>
              <a:t>un solo Árbol de </a:t>
            </a:r>
            <a:r>
              <a:rPr lang="en-US" b="1" dirty="0" err="1"/>
              <a:t>Decisión</a:t>
            </a:r>
            <a:r>
              <a:rPr lang="en-US" dirty="0"/>
              <a:t>, el </a:t>
            </a:r>
            <a:r>
              <a:rPr lang="en-US" dirty="0" err="1"/>
              <a:t>Índice</a:t>
            </a:r>
            <a:r>
              <a:rPr lang="en-US" dirty="0"/>
              <a:t> Gini </a:t>
            </a:r>
            <a:r>
              <a:rPr lang="en-US" dirty="0" err="1"/>
              <a:t>revisa</a:t>
            </a:r>
            <a:r>
              <a:rPr lang="en-US" dirty="0"/>
              <a:t> </a:t>
            </a:r>
            <a:r>
              <a:rPr lang="en-US" i="1" dirty="0" err="1"/>
              <a:t>todas</a:t>
            </a:r>
            <a:r>
              <a:rPr lang="en-US" dirty="0"/>
              <a:t> las variables </a:t>
            </a:r>
            <a:r>
              <a:rPr lang="en-US" dirty="0" err="1"/>
              <a:t>disponibles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dataset y </a:t>
            </a:r>
            <a:r>
              <a:rPr lang="en-US" b="1" dirty="0" err="1"/>
              <a:t>siempre</a:t>
            </a:r>
            <a:r>
              <a:rPr lang="en-US" b="1" dirty="0"/>
              <a:t> </a:t>
            </a:r>
            <a:r>
              <a:rPr lang="en-US" b="1" dirty="0" err="1"/>
              <a:t>elegirá</a:t>
            </a:r>
            <a:r>
              <a:rPr lang="en-US" b="1" dirty="0"/>
              <a:t> la </a:t>
            </a:r>
            <a:r>
              <a:rPr lang="en-US" b="1" dirty="0" err="1"/>
              <a:t>Acidez</a:t>
            </a:r>
            <a:r>
              <a:rPr lang="en-US" b="1" dirty="0"/>
              <a:t> primero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ser la variable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separa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 Ese árbol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idéntico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no </a:t>
            </a:r>
            <a:r>
              <a:rPr lang="en-US" dirty="0" err="1"/>
              <a:t>cambias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En </a:t>
            </a:r>
            <a:r>
              <a:rPr lang="en-US" b="1" dirty="0"/>
              <a:t>Random Forest</a:t>
            </a:r>
            <a:r>
              <a:rPr lang="en-US" dirty="0"/>
              <a:t>, </a:t>
            </a:r>
            <a:r>
              <a:rPr lang="en-US" dirty="0" err="1"/>
              <a:t>obligamos</a:t>
            </a:r>
            <a:r>
              <a:rPr lang="en-US" dirty="0"/>
              <a:t> al </a:t>
            </a:r>
            <a:r>
              <a:rPr lang="en-US" dirty="0" err="1"/>
              <a:t>algoritmo</a:t>
            </a:r>
            <a:r>
              <a:rPr lang="en-US" dirty="0"/>
              <a:t> a usar el </a:t>
            </a:r>
            <a:r>
              <a:rPr lang="en-US" dirty="0" err="1"/>
              <a:t>parámetro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mtry</a:t>
            </a:r>
            <a:r>
              <a:rPr lang="en-US" dirty="0"/>
              <a:t> (el "</a:t>
            </a:r>
            <a:r>
              <a:rPr lang="en-US" dirty="0" err="1"/>
              <a:t>truco</a:t>
            </a:r>
            <a:r>
              <a:rPr lang="en-US" dirty="0"/>
              <a:t> de las </a:t>
            </a:r>
            <a:r>
              <a:rPr lang="en-US" dirty="0" err="1"/>
              <a:t>pistas</a:t>
            </a:r>
            <a:r>
              <a:rPr lang="en-US" dirty="0"/>
              <a:t> </a:t>
            </a:r>
            <a:r>
              <a:rPr lang="en-US" dirty="0" err="1"/>
              <a:t>aleatorias</a:t>
            </a:r>
            <a:r>
              <a:rPr lang="en-US" dirty="0"/>
              <a:t>").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Cuando el </a:t>
            </a:r>
            <a:r>
              <a:rPr lang="en-US" b="1" dirty="0"/>
              <a:t>Árbol 2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a </a:t>
            </a:r>
            <a:r>
              <a:rPr lang="en-US" dirty="0" err="1"/>
              <a:t>decidir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pregunta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raíz</a:t>
            </a:r>
            <a:r>
              <a:rPr lang="en-US" dirty="0"/>
              <a:t>, 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esconde</a:t>
            </a:r>
            <a:r>
              <a:rPr lang="en-US" dirty="0"/>
              <a:t> </a:t>
            </a:r>
            <a:r>
              <a:rPr lang="en-US" dirty="0" err="1"/>
              <a:t>deliberadamente</a:t>
            </a:r>
            <a:r>
              <a:rPr lang="en-US" dirty="0"/>
              <a:t> </a:t>
            </a:r>
            <a:r>
              <a:rPr lang="en-US" dirty="0" err="1"/>
              <a:t>algunas</a:t>
            </a:r>
            <a:r>
              <a:rPr lang="en-US" dirty="0"/>
              <a:t> variables al azar.</a:t>
            </a:r>
          </a:p>
          <a:p>
            <a:r>
              <a:rPr lang="en-US" dirty="0"/>
              <a:t>Si </a:t>
            </a:r>
            <a:r>
              <a:rPr lang="en-US" dirty="0" err="1"/>
              <a:t>tienes</a:t>
            </a:r>
            <a:r>
              <a:rPr lang="en-US" dirty="0"/>
              <a:t> 4 variables (</a:t>
            </a:r>
            <a:r>
              <a:rPr lang="en-US" i="1" dirty="0" err="1"/>
              <a:t>Acidez</a:t>
            </a:r>
            <a:r>
              <a:rPr lang="en-US" i="1" dirty="0"/>
              <a:t>, </a:t>
            </a:r>
            <a:r>
              <a:rPr lang="en-US" i="1" dirty="0" err="1"/>
              <a:t>Temperatura</a:t>
            </a:r>
            <a:r>
              <a:rPr lang="en-US" i="1" dirty="0"/>
              <a:t>, Leche, </a:t>
            </a:r>
            <a:r>
              <a:rPr lang="en-US" i="1" dirty="0" err="1"/>
              <a:t>Azúcar</a:t>
            </a:r>
            <a:r>
              <a:rPr lang="en-US" dirty="0"/>
              <a:t>) y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mtry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2</a:t>
            </a:r>
            <a:r>
              <a:rPr lang="en-US" dirty="0"/>
              <a:t>, 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tira</a:t>
            </a:r>
            <a:r>
              <a:rPr lang="en-US" dirty="0"/>
              <a:t> un dado para el Árbol 2 y le dice:</a:t>
            </a:r>
          </a:p>
          <a:p>
            <a:r>
              <a:rPr lang="en-US" i="1" dirty="0"/>
              <a:t>"Para </a:t>
            </a:r>
            <a:r>
              <a:rPr lang="en-US" i="1" dirty="0" err="1"/>
              <a:t>tu</a:t>
            </a:r>
            <a:r>
              <a:rPr lang="en-US" i="1" dirty="0"/>
              <a:t> </a:t>
            </a:r>
            <a:r>
              <a:rPr lang="en-US" i="1" dirty="0" err="1"/>
              <a:t>raíz</a:t>
            </a:r>
            <a:r>
              <a:rPr lang="en-US" i="1" dirty="0"/>
              <a:t> solo </a:t>
            </a:r>
            <a:r>
              <a:rPr lang="en-US" i="1" dirty="0" err="1"/>
              <a:t>tienes</a:t>
            </a:r>
            <a:r>
              <a:rPr lang="en-US" i="1" dirty="0"/>
              <a:t> </a:t>
            </a:r>
            <a:r>
              <a:rPr lang="en-US" i="1" dirty="0" err="1"/>
              <a:t>permitido</a:t>
            </a:r>
            <a:r>
              <a:rPr lang="en-US" i="1" dirty="0"/>
              <a:t> </a:t>
            </a:r>
            <a:r>
              <a:rPr lang="en-US" i="1" dirty="0" err="1"/>
              <a:t>evaluar</a:t>
            </a:r>
            <a:r>
              <a:rPr lang="en-US" i="1" dirty="0"/>
              <a:t> </a:t>
            </a:r>
            <a:r>
              <a:rPr lang="en-US" b="1" i="1" dirty="0"/>
              <a:t>Leche</a:t>
            </a:r>
            <a:r>
              <a:rPr lang="en-US" i="1" dirty="0"/>
              <a:t> y </a:t>
            </a:r>
            <a:r>
              <a:rPr lang="en-US" b="1" i="1" dirty="0" err="1"/>
              <a:t>Temperatura</a:t>
            </a:r>
            <a:r>
              <a:rPr lang="en-US" i="1" dirty="0"/>
              <a:t>. La </a:t>
            </a:r>
            <a:r>
              <a:rPr lang="en-US" i="1" dirty="0" err="1"/>
              <a:t>Acidez</a:t>
            </a:r>
            <a:r>
              <a:rPr lang="en-US" i="1" dirty="0"/>
              <a:t> y el </a:t>
            </a:r>
            <a:r>
              <a:rPr lang="en-US" i="1" dirty="0" err="1"/>
              <a:t>Azúcar</a:t>
            </a:r>
            <a:r>
              <a:rPr lang="en-US" i="1" dirty="0"/>
              <a:t> </a:t>
            </a:r>
            <a:r>
              <a:rPr lang="en-US" i="1" dirty="0" err="1"/>
              <a:t>están</a:t>
            </a:r>
            <a:r>
              <a:rPr lang="en-US" i="1" dirty="0"/>
              <a:t> </a:t>
            </a:r>
            <a:r>
              <a:rPr lang="en-US" i="1" dirty="0" err="1"/>
              <a:t>bloqueadas</a:t>
            </a:r>
            <a:r>
              <a:rPr lang="en-US" i="1" dirty="0"/>
              <a:t>."</a:t>
            </a:r>
            <a:endParaRPr lang="en-US" dirty="0"/>
          </a:p>
          <a:p>
            <a:r>
              <a:rPr lang="en-US" dirty="0"/>
              <a:t>En ese </a:t>
            </a:r>
            <a:r>
              <a:rPr lang="en-US" dirty="0" err="1"/>
              <a:t>caso</a:t>
            </a:r>
            <a:r>
              <a:rPr lang="en-US" dirty="0"/>
              <a:t>, </a:t>
            </a:r>
            <a:r>
              <a:rPr lang="en-US" dirty="0" err="1"/>
              <a:t>aunque</a:t>
            </a:r>
            <a:r>
              <a:rPr lang="en-US" dirty="0"/>
              <a:t> la </a:t>
            </a:r>
            <a:r>
              <a:rPr lang="en-US" dirty="0" err="1"/>
              <a:t>Acidez</a:t>
            </a:r>
            <a:r>
              <a:rPr lang="en-US" dirty="0"/>
              <a:t> sea </a:t>
            </a:r>
            <a:r>
              <a:rPr lang="en-US" dirty="0" err="1"/>
              <a:t>objetivamente</a:t>
            </a:r>
            <a:r>
              <a:rPr lang="en-US" dirty="0"/>
              <a:t> la </a:t>
            </a:r>
            <a:r>
              <a:rPr lang="en-US" dirty="0" err="1"/>
              <a:t>mejor</a:t>
            </a:r>
            <a:r>
              <a:rPr lang="en-US" dirty="0"/>
              <a:t> variable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el dataset, el Árbol 2 </a:t>
            </a:r>
            <a:r>
              <a:rPr lang="en-US" b="1" dirty="0"/>
              <a:t>no la </a:t>
            </a:r>
            <a:r>
              <a:rPr lang="en-US" b="1" dirty="0" err="1"/>
              <a:t>tiene</a:t>
            </a:r>
            <a:r>
              <a:rPr lang="en-US" b="1" dirty="0"/>
              <a:t> disponible para la </a:t>
            </a:r>
            <a:r>
              <a:rPr lang="en-US" b="1" dirty="0" err="1"/>
              <a:t>raíz</a:t>
            </a:r>
            <a:r>
              <a:rPr lang="en-US" dirty="0"/>
              <a:t>. Por lo tanto, </a:t>
            </a:r>
            <a:r>
              <a:rPr lang="en-US" dirty="0" err="1"/>
              <a:t>calcula</a:t>
            </a:r>
            <a:r>
              <a:rPr lang="en-US" dirty="0"/>
              <a:t> el </a:t>
            </a:r>
            <a:r>
              <a:rPr lang="en-US" dirty="0" err="1"/>
              <a:t>Índice</a:t>
            </a:r>
            <a:r>
              <a:rPr lang="en-US" dirty="0"/>
              <a:t> Gini </a:t>
            </a:r>
            <a:r>
              <a:rPr lang="en-US" dirty="0" err="1"/>
              <a:t>únicamente</a:t>
            </a:r>
            <a:r>
              <a:rPr lang="en-US" dirty="0"/>
              <a:t> entre </a:t>
            </a:r>
            <a:r>
              <a:rPr lang="en-US" i="1" dirty="0"/>
              <a:t>Leche</a:t>
            </a:r>
            <a:r>
              <a:rPr lang="en-US" dirty="0"/>
              <a:t> y </a:t>
            </a:r>
            <a:r>
              <a:rPr lang="en-US" i="1" dirty="0" err="1"/>
              <a:t>Temperatura</a:t>
            </a:r>
            <a:r>
              <a:rPr lang="en-US" dirty="0"/>
              <a:t>, y </a:t>
            </a:r>
            <a:r>
              <a:rPr lang="en-US" dirty="0" err="1"/>
              <a:t>elige</a:t>
            </a:r>
            <a:r>
              <a:rPr lang="en-US" dirty="0"/>
              <a:t> (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) la </a:t>
            </a:r>
            <a:r>
              <a:rPr lang="en-US" b="1" dirty="0"/>
              <a:t>Leche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nodo</a:t>
            </a:r>
            <a:r>
              <a:rPr lang="en-US" dirty="0"/>
              <a:t> </a:t>
            </a:r>
            <a:r>
              <a:rPr lang="en-US" dirty="0" err="1"/>
              <a:t>raíz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19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Competencia</a:t>
            </a:r>
            <a:r>
              <a:rPr lang="en-US" b="1" dirty="0"/>
              <a:t> de Gini:</a:t>
            </a:r>
            <a:r>
              <a:rPr lang="en-US" dirty="0"/>
              <a:t> La </a:t>
            </a:r>
            <a:r>
              <a:rPr lang="en-US" dirty="0" err="1"/>
              <a:t>Acidez</a:t>
            </a:r>
            <a:r>
              <a:rPr lang="en-US" dirty="0"/>
              <a:t> </a:t>
            </a:r>
            <a:r>
              <a:rPr lang="en-US" dirty="0" err="1"/>
              <a:t>demuestra</a:t>
            </a:r>
            <a:r>
              <a:rPr lang="en-US" dirty="0"/>
              <a:t> ser </a:t>
            </a:r>
            <a:r>
              <a:rPr lang="en-US" dirty="0" err="1">
                <a:highlight>
                  <a:srgbClr val="FF0000"/>
                </a:highlight>
              </a:rPr>
              <a:t>mejor</a:t>
            </a:r>
            <a:r>
              <a:rPr lang="en-US" dirty="0">
                <a:highlight>
                  <a:srgbClr val="FF0000"/>
                </a:highlight>
              </a:rPr>
              <a:t> </a:t>
            </a:r>
            <a:r>
              <a:rPr lang="en-US" dirty="0" err="1">
                <a:highlight>
                  <a:srgbClr val="FF0000"/>
                </a:highlight>
              </a:rPr>
              <a:t>separando</a:t>
            </a:r>
            <a:r>
              <a:rPr lang="en-US" dirty="0"/>
              <a:t> a la </a:t>
            </a:r>
            <a:r>
              <a:rPr lang="en-US" dirty="0" err="1"/>
              <a:t>gente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Temperatura</a:t>
            </a:r>
            <a:r>
              <a:rPr lang="en-US" dirty="0"/>
              <a:t>. </a:t>
            </a:r>
            <a:r>
              <a:rPr lang="en-US" b="1" dirty="0"/>
              <a:t>La </a:t>
            </a:r>
            <a:r>
              <a:rPr lang="en-US" b="1" dirty="0" err="1"/>
              <a:t>Acidez</a:t>
            </a:r>
            <a:r>
              <a:rPr lang="en-US" b="1" dirty="0"/>
              <a:t> </a:t>
            </a:r>
            <a:r>
              <a:rPr lang="en-US" b="1" dirty="0" err="1"/>
              <a:t>gana</a:t>
            </a:r>
            <a:r>
              <a:rPr lang="en-US" b="1" dirty="0"/>
              <a:t> y se </a:t>
            </a:r>
            <a:r>
              <a:rPr lang="en-US" b="1" dirty="0" err="1"/>
              <a:t>convierte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el </a:t>
            </a:r>
            <a:r>
              <a:rPr lang="en-US" b="1" dirty="0" err="1"/>
              <a:t>Nodo</a:t>
            </a:r>
            <a:r>
              <a:rPr lang="en-US" b="1" dirty="0"/>
              <a:t> </a:t>
            </a:r>
            <a:r>
              <a:rPr lang="en-US" b="1" dirty="0" err="1"/>
              <a:t>Raíz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r>
              <a:rPr lang="en-US" b="1" dirty="0"/>
              <a:t>A </a:t>
            </a:r>
            <a:r>
              <a:rPr lang="en-US" b="1" dirty="0" err="1"/>
              <a:t>que</a:t>
            </a:r>
            <a:r>
              <a:rPr lang="en-US" b="1" dirty="0"/>
              <a:t> se </a:t>
            </a:r>
            <a:r>
              <a:rPr lang="en-US" b="1" dirty="0" err="1"/>
              <a:t>refiere</a:t>
            </a:r>
            <a:r>
              <a:rPr lang="en-US" b="1" dirty="0"/>
              <a:t> “</a:t>
            </a:r>
            <a:r>
              <a:rPr lang="en-US" b="1" dirty="0" err="1"/>
              <a:t>separando</a:t>
            </a:r>
            <a:r>
              <a:rPr lang="en-US" b="1" dirty="0"/>
              <a:t> </a:t>
            </a:r>
            <a:r>
              <a:rPr lang="en-US" b="1" dirty="0" err="1"/>
              <a:t>mejor</a:t>
            </a:r>
            <a:r>
              <a:rPr lang="en-US" b="1" dirty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29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Aprende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la </a:t>
                </a:r>
                <a:r>
                  <a:rPr lang="en-US" dirty="0" err="1"/>
                  <a:t>acidez</a:t>
                </a:r>
                <a:r>
                  <a:rPr lang="en-US" dirty="0"/>
                  <a:t> es la </a:t>
                </a:r>
                <a:r>
                  <a:rPr lang="en-US" dirty="0" err="1"/>
                  <a:t>prioridad</a:t>
                </a:r>
                <a:r>
                  <a:rPr lang="en-US" dirty="0"/>
                  <a:t>; </a:t>
                </a:r>
                <a:r>
                  <a:rPr lang="en-US" dirty="0" err="1"/>
                  <a:t>si</a:t>
                </a:r>
                <a:r>
                  <a:rPr lang="en-US" dirty="0"/>
                  <a:t> el café es </a:t>
                </a:r>
                <a:r>
                  <a:rPr lang="en-US" dirty="0" err="1"/>
                  <a:t>agrio</a:t>
                </a:r>
                <a:r>
                  <a:rPr lang="en-US" dirty="0"/>
                  <a:t> (mala </a:t>
                </a:r>
                <a:r>
                  <a:rPr lang="en-US" dirty="0" err="1"/>
                  <a:t>acidez</a:t>
                </a:r>
                <a:r>
                  <a:rPr lang="en-US" dirty="0"/>
                  <a:t>), a la </a:t>
                </a:r>
                <a:r>
                  <a:rPr lang="en-US" dirty="0" err="1"/>
                  <a:t>gente</a:t>
                </a:r>
                <a:r>
                  <a:rPr lang="en-US" dirty="0"/>
                  <a:t> no le </a:t>
                </a:r>
                <a:r>
                  <a:rPr lang="en-US" dirty="0" err="1"/>
                  <a:t>gusta</a:t>
                </a:r>
                <a:r>
                  <a:rPr lang="en-US" dirty="0"/>
                  <a:t> (👎). Si la </a:t>
                </a:r>
                <a:r>
                  <a:rPr lang="en-US" dirty="0" err="1"/>
                  <a:t>acidez</a:t>
                </a:r>
                <a:r>
                  <a:rPr lang="en-US" dirty="0"/>
                  <a:t> es </a:t>
                </a:r>
                <a:r>
                  <a:rPr lang="en-US" dirty="0" err="1"/>
                  <a:t>buena</a:t>
                </a:r>
                <a:r>
                  <a:rPr lang="en-US" dirty="0"/>
                  <a:t>, la </a:t>
                </a:r>
                <a:r>
                  <a:rPr lang="en-US" dirty="0" err="1"/>
                  <a:t>gente</a:t>
                </a:r>
                <a:r>
                  <a:rPr lang="en-US" dirty="0"/>
                  <a:t> </a:t>
                </a:r>
                <a:r>
                  <a:rPr lang="en-US" dirty="0" err="1"/>
                  <a:t>exige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además</a:t>
                </a:r>
                <a:r>
                  <a:rPr lang="en-US" dirty="0"/>
                  <a:t> </a:t>
                </a:r>
                <a:r>
                  <a:rPr lang="en-US" dirty="0" err="1"/>
                  <a:t>esté</a:t>
                </a:r>
                <a:r>
                  <a:rPr lang="en-US" dirty="0"/>
                  <a:t> caliente (👍).</a:t>
                </a:r>
              </a:p>
              <a:p>
                <a:endParaRPr lang="en-US" dirty="0"/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(45 de 50 personas lo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rechazan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(28 de 30 personas lo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aprueban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frío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Aprende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la </a:t>
                </a:r>
                <a:r>
                  <a:rPr lang="en-US" dirty="0" err="1"/>
                  <a:t>acidez</a:t>
                </a:r>
                <a:r>
                  <a:rPr lang="en-US" dirty="0"/>
                  <a:t> es la </a:t>
                </a:r>
                <a:r>
                  <a:rPr lang="en-US" dirty="0" err="1"/>
                  <a:t>prioridad</a:t>
                </a:r>
                <a:r>
                  <a:rPr lang="en-US" dirty="0"/>
                  <a:t>; </a:t>
                </a:r>
                <a:r>
                  <a:rPr lang="en-US" dirty="0" err="1"/>
                  <a:t>si</a:t>
                </a:r>
                <a:r>
                  <a:rPr lang="en-US" dirty="0"/>
                  <a:t> el café es </a:t>
                </a:r>
                <a:r>
                  <a:rPr lang="en-US" dirty="0" err="1"/>
                  <a:t>agrio</a:t>
                </a:r>
                <a:r>
                  <a:rPr lang="en-US" dirty="0"/>
                  <a:t> (mala </a:t>
                </a:r>
                <a:r>
                  <a:rPr lang="en-US" dirty="0" err="1"/>
                  <a:t>acidez</a:t>
                </a:r>
                <a:r>
                  <a:rPr lang="en-US" dirty="0"/>
                  <a:t>), a la </a:t>
                </a:r>
                <a:r>
                  <a:rPr lang="en-US" dirty="0" err="1"/>
                  <a:t>gente</a:t>
                </a:r>
                <a:r>
                  <a:rPr lang="en-US" dirty="0"/>
                  <a:t> no le </a:t>
                </a:r>
                <a:r>
                  <a:rPr lang="en-US" dirty="0" err="1"/>
                  <a:t>gusta</a:t>
                </a:r>
                <a:r>
                  <a:rPr lang="en-US" dirty="0"/>
                  <a:t> (👎). Si la </a:t>
                </a:r>
                <a:r>
                  <a:rPr lang="en-US" dirty="0" err="1"/>
                  <a:t>acidez</a:t>
                </a:r>
                <a:r>
                  <a:rPr lang="en-US" dirty="0"/>
                  <a:t> es </a:t>
                </a:r>
                <a:r>
                  <a:rPr lang="en-US" dirty="0" err="1"/>
                  <a:t>buena</a:t>
                </a:r>
                <a:r>
                  <a:rPr lang="en-US" dirty="0"/>
                  <a:t>, la </a:t>
                </a:r>
                <a:r>
                  <a:rPr lang="en-US" dirty="0" err="1"/>
                  <a:t>gente</a:t>
                </a:r>
                <a:r>
                  <a:rPr lang="en-US" dirty="0"/>
                  <a:t> </a:t>
                </a:r>
                <a:r>
                  <a:rPr lang="en-US" dirty="0" err="1"/>
                  <a:t>exige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además</a:t>
                </a:r>
                <a:r>
                  <a:rPr lang="en-US" dirty="0"/>
                  <a:t> </a:t>
                </a:r>
                <a:r>
                  <a:rPr lang="en-US" dirty="0" err="1"/>
                  <a:t>esté</a:t>
                </a:r>
                <a:r>
                  <a:rPr lang="en-US" dirty="0"/>
                  <a:t> caliente (👍).</a:t>
                </a:r>
              </a:p>
              <a:p>
                <a:endParaRPr lang="en-US" dirty="0"/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(45 de 50 personas lo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rechazan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(28 de 30 personas lo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aprueban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frío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95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aprendió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Árbol 2: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Para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gente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toma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café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 leche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del café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(26 de 30).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café base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demasiado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ácido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(la leche no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logra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tapar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aprendió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Árbol 2: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Para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gente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toma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café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 leche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del café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buena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(26 de 30).</a:t>
                </a:r>
              </a:p>
              <a:p>
                <a:pPr lvl="1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tiene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leche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café base es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demasiado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ácido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(la leche no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logra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tapar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 mala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acidez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11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aprendió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Árbol 3: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y dulce (con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(31 de 35).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amargo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(sin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que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aprendió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el Árbol 3: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el café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y dulce (con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👍 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(31 de 35).</a:t>
                </a:r>
              </a:p>
              <a:p>
                <a:pPr lvl="0"/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está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caliente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amargo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(sin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azúcar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👎 No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gusta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44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"Un </a:t>
            </a:r>
            <a:r>
              <a:rPr lang="en-US" dirty="0" err="1"/>
              <a:t>buen</a:t>
            </a:r>
            <a:r>
              <a:rPr lang="en-US" dirty="0"/>
              <a:t> árbol de </a:t>
            </a:r>
            <a:r>
              <a:rPr lang="en-US" dirty="0" err="1"/>
              <a:t>decisión</a:t>
            </a:r>
            <a:r>
              <a:rPr lang="en-US" dirty="0"/>
              <a:t> sabe </a:t>
            </a:r>
            <a:r>
              <a:rPr lang="en-US" dirty="0" err="1"/>
              <a:t>cuándo</a:t>
            </a:r>
            <a:r>
              <a:rPr lang="en-US" dirty="0"/>
              <a:t> </a:t>
            </a:r>
            <a:r>
              <a:rPr lang="en-US" dirty="0" err="1"/>
              <a:t>parar</a:t>
            </a:r>
            <a:r>
              <a:rPr lang="en-US" dirty="0"/>
              <a:t>. Cuando un </a:t>
            </a:r>
            <a:r>
              <a:rPr lang="en-US" dirty="0" err="1"/>
              <a:t>grupo</a:t>
            </a:r>
            <a:r>
              <a:rPr lang="en-US" dirty="0"/>
              <a:t> es </a:t>
            </a:r>
            <a:r>
              <a:rPr lang="en-US" dirty="0" err="1"/>
              <a:t>suficientemente</a:t>
            </a:r>
            <a:r>
              <a:rPr lang="en-US" dirty="0"/>
              <a:t> puro (</a:t>
            </a:r>
            <a:r>
              <a:rPr lang="en-US" dirty="0" err="1"/>
              <a:t>ej</a:t>
            </a:r>
            <a:r>
              <a:rPr lang="en-US" dirty="0"/>
              <a:t>. &gt;90%), 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detiene</a:t>
            </a:r>
            <a:r>
              <a:rPr lang="en-US" dirty="0"/>
              <a:t> el </a:t>
            </a:r>
            <a:r>
              <a:rPr lang="en-US" dirty="0" err="1"/>
              <a:t>crecimiento</a:t>
            </a:r>
            <a:r>
              <a:rPr lang="en-US" dirty="0"/>
              <a:t> y </a:t>
            </a:r>
            <a:r>
              <a:rPr lang="en-US" dirty="0" err="1"/>
              <a:t>declara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/>
              <a:t>Hoja Terminal</a:t>
            </a:r>
            <a:r>
              <a:rPr lang="en-US" dirty="0"/>
              <a:t>, </a:t>
            </a:r>
            <a:r>
              <a:rPr lang="en-US" dirty="0" err="1"/>
              <a:t>ahorrando</a:t>
            </a:r>
            <a:r>
              <a:rPr lang="en-US" dirty="0"/>
              <a:t> memoria y </a:t>
            </a:r>
            <a:r>
              <a:rPr lang="en-US" dirty="0" err="1"/>
              <a:t>evitando</a:t>
            </a:r>
            <a:r>
              <a:rPr lang="en-US" dirty="0"/>
              <a:t> </a:t>
            </a:r>
            <a:r>
              <a:rPr lang="en-US" dirty="0" err="1"/>
              <a:t>memorizar</a:t>
            </a:r>
            <a:r>
              <a:rPr lang="en-US" dirty="0"/>
              <a:t> </a:t>
            </a:r>
            <a:r>
              <a:rPr lang="en-US" dirty="0" err="1"/>
              <a:t>excepciones</a:t>
            </a:r>
            <a:r>
              <a:rPr lang="en-US" dirty="0"/>
              <a:t> </a:t>
            </a:r>
            <a:r>
              <a:rPr lang="en-US" dirty="0" err="1"/>
              <a:t>raras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9926-F67F-9744-9168-D99BC660B5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15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C4C2-9283-76C6-9F5F-30229F424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F2B81-FB27-5282-EE15-ECD5CEF51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F3E25-2C30-70DA-6D84-0226D131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DA6AC-5E3B-EB77-67A1-793E41992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7C2C7-8083-FE57-65A3-44CAA9ED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0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9903-72DB-3641-5583-5B03D861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9B741-2E2B-FCF5-7853-17C4778E0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2A499-88F6-3438-9C7C-9931F945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FF542-1469-29B6-8002-3166A7D1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508E3-B31E-EAED-2B8A-A66E9EF2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3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0735-93DD-6AED-1601-18EFD8F9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B72D3-D24F-5D63-1720-83736F14E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C92E3-1A0B-555B-AA05-E906BFE3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82414-B1EE-4670-A13B-F060484ED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1BA38-EBE2-3F52-49D3-FDDC1B6B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6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BA88-2DA7-7242-C90E-E3BBD9BA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193CD-3456-0DC1-7E6F-B6069383D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4DD8B-2DF3-5974-3926-4B6AD7655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A8D9D-3D9F-4A45-2098-4BD5C83A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E154-1613-70EB-934C-DC2742EF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27A42-B791-CD5C-5FAB-8D940ADC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9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33C7A-6332-0717-8430-77E48C898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C422F-E452-244D-A007-A49ACB06D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9E692-5829-910D-A463-3629ACBFB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F6FD1-AA7B-6E21-6C7C-BDE717FC7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644F6-E52D-48F3-F82E-9E79F23234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189F9-4028-6F2E-C565-F6104598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AA4458-349C-CD7D-4222-802CE278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5BC51-D290-07BB-4CD6-CCCC4EED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1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C4DF-3772-76D5-CE7A-E0F50666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8743B-C3DD-5937-8AB6-7BD24061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D2325-0B40-4718-CBEC-D66A8AC94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8B9A4-C1C1-1F5B-F1E5-7D3DCCEA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5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E84A1-04DE-69CB-F37E-63347F0E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C6570-AB39-037D-2BB7-376E10B2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FF68A-2BF7-B18E-695C-45CE7B92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D6B6-C2CF-1EC3-DEC8-499D5EA2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A493-E7C8-3BEF-4F89-7AC059BB3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395C4-08AB-1EE5-E1EC-A83D22F99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FD1FF-411E-0B0B-A767-3E9C80EE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29A9-9E87-41CA-8544-E852114F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0A11F-45F8-C6BA-107D-D60CF08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5A6A-B88A-BB30-A3AB-51BB76C82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53F29-6DA0-1206-503A-64AA407DEC1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FA23A-24FF-641A-1EA2-8AFD69DD7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6630F-E0DD-0599-4C24-473A2256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4E077-0660-8A4E-E6F4-64000F5EE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6CDC9-0046-1DA8-47BC-D228403A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4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CC1A-789A-1848-8B7A-990F0DB1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8AC1B-D58C-D8F2-C6FB-5E46A5ACF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A1012-CA4C-7C55-D13C-E70FEFD8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78450-E885-1B60-994C-A4DECD5A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18D73-1043-90EA-A015-5F73820D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8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4A222-44C4-CFFA-EF85-76ABC2E0B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5B97C-7262-DCAE-6774-693F35D63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6CC49-8245-1F3F-7DA5-26D06CF7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5D4DA-45D1-4918-79C0-58073EB4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3A07-2DCB-8327-2C46-C6D0674F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6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7A667-E4AD-997E-FB09-DEB67DE7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03A4C-8E84-2C7C-B8E0-470DD2CFC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E6BB8-A078-3532-E4BC-258EB12EB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DBCA4-1CB8-9B40-8BD8-4799BFFBEB2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57139-6644-935D-ADD9-577336DAE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A4AC-3939-4716-2F1A-C1AF94F1E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7D0CD-4D07-7347-B8ED-16FC2DCF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6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0269-2682-58E4-5487-675C66C3A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4EF8F-AB2E-376B-BEB4-EB22C30E79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24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A05A-9FDA-91F7-9AC9-57310EBD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clasificacion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2E463-D764-4688-3BC0-33C315A28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690688"/>
            <a:ext cx="7772400" cy="430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25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FE1E-A58E-1B0C-36D0-686EBC47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46181" cy="1325563"/>
          </a:xfrm>
        </p:spPr>
        <p:txBody>
          <a:bodyPr/>
          <a:lstStyle/>
          <a:p>
            <a:r>
              <a:rPr lang="en-US" dirty="0"/>
              <a:t>Decision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A7C786-C20C-A101-0748-103E757B6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77195"/>
            <a:ext cx="3446463" cy="384819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F153416-E56A-4256-4112-9E9B7BBDA77B}"/>
              </a:ext>
            </a:extLst>
          </p:cNvPr>
          <p:cNvSpPr txBox="1">
            <a:spLocks/>
          </p:cNvSpPr>
          <p:nvPr/>
        </p:nvSpPr>
        <p:spPr>
          <a:xfrm>
            <a:off x="6604590" y="365125"/>
            <a:ext cx="44461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Random Forest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72E27A-EB5E-15FA-DC65-536D28B4F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301" y="1913841"/>
            <a:ext cx="3635656" cy="399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87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FE2B-4348-4147-7B01-EB1CD188F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5869-0542-52FF-12FC-9168FEF8D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 Decision:</a:t>
            </a:r>
          </a:p>
          <a:p>
            <a:pPr marL="0" indent="0">
              <a:buNone/>
            </a:pPr>
            <a:r>
              <a:rPr lang="en-US" dirty="0"/>
              <a:t>It’s like a diagram flux </a:t>
            </a:r>
          </a:p>
          <a:p>
            <a:pPr marL="0" indent="0">
              <a:buNone/>
            </a:pPr>
            <a:r>
              <a:rPr lang="en-US" b="1" dirty="0"/>
              <a:t>Un árbol de </a:t>
            </a:r>
            <a:r>
              <a:rPr lang="en-US" b="1" dirty="0" err="1"/>
              <a:t>decisión</a:t>
            </a:r>
            <a:r>
              <a:rPr lang="en-US" b="1" dirty="0"/>
              <a:t> es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serie</a:t>
            </a:r>
            <a:r>
              <a:rPr lang="en-US" b="1" dirty="0"/>
              <a:t> de </a:t>
            </a:r>
            <a:r>
              <a:rPr lang="en-US" b="1" dirty="0" err="1"/>
              <a:t>preguntas</a:t>
            </a:r>
            <a:r>
              <a:rPr lang="en-US" b="1" dirty="0"/>
              <a:t> de </a:t>
            </a:r>
            <a:r>
              <a:rPr lang="en-US" b="1" dirty="0" err="1"/>
              <a:t>sí</a:t>
            </a:r>
            <a:r>
              <a:rPr lang="en-US" b="1" dirty="0"/>
              <a:t>/no.</a:t>
            </a:r>
            <a:r>
              <a:rPr lang="en-US" dirty="0"/>
              <a:t> Por </a:t>
            </a:r>
            <a:r>
              <a:rPr lang="en-US" dirty="0" err="1"/>
              <a:t>ejemplo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¿elevation &gt; 1700 m? → </a:t>
            </a:r>
          </a:p>
          <a:p>
            <a:pPr marL="0" indent="0">
              <a:buNone/>
            </a:pPr>
            <a:r>
              <a:rPr lang="en-US" dirty="0"/>
              <a:t>¿la </a:t>
            </a:r>
            <a:r>
              <a:rPr lang="en-US" dirty="0" err="1"/>
              <a:t>temperatura</a:t>
            </a:r>
            <a:r>
              <a:rPr lang="en-US" dirty="0"/>
              <a:t> es </a:t>
            </a:r>
            <a:r>
              <a:rPr lang="en-US" dirty="0" err="1"/>
              <a:t>menor</a:t>
            </a:r>
            <a:r>
              <a:rPr lang="en-US" dirty="0"/>
              <a:t> de 12 °C? → </a:t>
            </a:r>
          </a:p>
          <a:p>
            <a:pPr marL="0" indent="0">
              <a:buNone/>
            </a:pPr>
            <a:r>
              <a:rPr lang="en-US" dirty="0"/>
              <a:t>¿</a:t>
            </a:r>
            <a:r>
              <a:rPr lang="en-US" dirty="0" err="1"/>
              <a:t>llueve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de 700 mm? → </a:t>
            </a:r>
          </a:p>
          <a:p>
            <a:pPr marL="0" indent="0">
              <a:buNone/>
            </a:pPr>
            <a:r>
              <a:rPr lang="en-US" dirty="0" err="1"/>
              <a:t>entonces</a:t>
            </a:r>
            <a:r>
              <a:rPr lang="en-US" dirty="0"/>
              <a:t> </a:t>
            </a:r>
            <a:r>
              <a:rPr lang="en-US" dirty="0" err="1"/>
              <a:t>probablemente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encuentre</a:t>
            </a:r>
            <a:r>
              <a:rPr lang="en-US" dirty="0"/>
              <a:t> la </a:t>
            </a:r>
            <a:r>
              <a:rPr lang="en-US" dirty="0" err="1"/>
              <a:t>especie</a:t>
            </a:r>
            <a:r>
              <a:rPr lang="en-US" dirty="0"/>
              <a:t>”.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10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E10C-D20B-AF78-8AC8-41FA399E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Como se genera el “Tree”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61DDB-178A-559C-98AA-089FBC05E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19" y="1580167"/>
            <a:ext cx="4696679" cy="2640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242A28-9440-6106-BE58-C481F6D95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977" y="1580167"/>
            <a:ext cx="5245823" cy="309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94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F8815F-0B40-CD82-3685-E5A7D3711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9" y="1263555"/>
            <a:ext cx="7772400" cy="433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03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3E8938-0135-BDCC-3498-F3A5ECCF7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00" y="617587"/>
            <a:ext cx="4373880" cy="2811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276CB6-1499-30DC-8482-DA6E44EDB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399" y="617587"/>
            <a:ext cx="6672526" cy="31088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C4C135-2165-A812-7A1E-3F6F8BEEBD7A}"/>
              </a:ext>
            </a:extLst>
          </p:cNvPr>
          <p:cNvSpPr txBox="1"/>
          <p:nvPr/>
        </p:nvSpPr>
        <p:spPr>
          <a:xfrm>
            <a:off x="1741714" y="4470400"/>
            <a:ext cx="24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 100</a:t>
            </a:r>
          </a:p>
        </p:txBody>
      </p:sp>
    </p:spTree>
    <p:extLst>
      <p:ext uri="{BB962C8B-B14F-4D97-AF65-F5344CB8AC3E}">
        <p14:creationId xmlns:p14="http://schemas.microsoft.com/office/powerpoint/2010/main" val="3456955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622E33-3D36-149A-5AFE-402A7D81D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94" y="1692600"/>
            <a:ext cx="5312867" cy="2527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A34034-B746-F1DD-B732-4BB8F59C4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167" y="3757829"/>
            <a:ext cx="4298851" cy="2782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4BBE72-C345-891A-38B7-BDC831C52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41" y="145040"/>
            <a:ext cx="5121779" cy="329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3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DEC952-A072-AD49-5DA5-4D842269A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25570"/>
            <a:ext cx="7772400" cy="44068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15E218-CC60-43B2-F7CE-92176A053CDB}"/>
              </a:ext>
            </a:extLst>
          </p:cNvPr>
          <p:cNvSpPr txBox="1"/>
          <p:nvPr/>
        </p:nvSpPr>
        <p:spPr>
          <a:xfrm>
            <a:off x="6663955" y="159628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Root Node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32453-DACF-7F7C-A7E4-F48EFCA138EB}"/>
              </a:ext>
            </a:extLst>
          </p:cNvPr>
          <p:cNvSpPr txBox="1"/>
          <p:nvPr/>
        </p:nvSpPr>
        <p:spPr>
          <a:xfrm>
            <a:off x="2445489" y="2712706"/>
            <a:ext cx="637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Decision Nodes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ECB6A-C160-5438-14E7-8E83D8BE8AD1}"/>
              </a:ext>
            </a:extLst>
          </p:cNvPr>
          <p:cNvSpPr txBox="1"/>
          <p:nvPr/>
        </p:nvSpPr>
        <p:spPr>
          <a:xfrm>
            <a:off x="3187109" y="5679980"/>
            <a:ext cx="6379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Leaf Nodes</a:t>
            </a:r>
          </a:p>
          <a:p>
            <a:r>
              <a:rPr lang="en-US" dirty="0"/>
              <a:t> / Terminal Nodes</a:t>
            </a:r>
          </a:p>
        </p:txBody>
      </p:sp>
    </p:spTree>
    <p:extLst>
      <p:ext uri="{BB962C8B-B14F-4D97-AF65-F5344CB8AC3E}">
        <p14:creationId xmlns:p14="http://schemas.microsoft.com/office/powerpoint/2010/main" val="3050326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7330-2365-4B77-367B-563764E1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grupo</a:t>
            </a:r>
            <a:r>
              <a:rPr lang="en-US" dirty="0"/>
              <a:t> de "</a:t>
            </a:r>
            <a:r>
              <a:rPr lang="en-US" dirty="0" err="1"/>
              <a:t>expertos</a:t>
            </a:r>
            <a:r>
              <a:rPr lang="en-US" dirty="0"/>
              <a:t> </a:t>
            </a:r>
            <a:r>
              <a:rPr lang="en-US" dirty="0" err="1"/>
              <a:t>imperfectos</a:t>
            </a:r>
            <a:r>
              <a:rPr lang="en-US" dirty="0"/>
              <a:t>" es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un solo "super-</a:t>
            </a:r>
            <a:r>
              <a:rPr lang="en-US" dirty="0" err="1"/>
              <a:t>experto</a:t>
            </a:r>
            <a:r>
              <a:rPr lang="en-US" dirty="0"/>
              <a:t>"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50E946-1255-E8E9-A0FA-82A871BC0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956" y="1825625"/>
            <a:ext cx="78480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83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5DA053-C26F-B052-928C-87E3CE373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1798"/>
            <a:ext cx="7772400" cy="44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42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D16CF7-0CD1-49DB-9BDD-3F6BB8D104AB}"/>
              </a:ext>
            </a:extLst>
          </p:cNvPr>
          <p:cNvSpPr txBox="1"/>
          <p:nvPr/>
        </p:nvSpPr>
        <p:spPr>
          <a:xfrm>
            <a:off x="420914" y="566678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b="1" dirty="0"/>
              <a:t>100 personas</a:t>
            </a:r>
            <a:r>
              <a:rPr lang="en-US" dirty="0"/>
              <a:t> </a:t>
            </a:r>
            <a:r>
              <a:rPr lang="en-US" dirty="0" err="1"/>
              <a:t>encuestadas</a:t>
            </a:r>
            <a:r>
              <a:rPr lang="en-US" dirty="0"/>
              <a:t>. </a:t>
            </a:r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predecir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les </a:t>
            </a:r>
            <a:r>
              <a:rPr lang="en-US" dirty="0" err="1"/>
              <a:t>gusta</a:t>
            </a:r>
            <a:r>
              <a:rPr lang="en-US" dirty="0"/>
              <a:t> el café (👍) o no (👎). </a:t>
            </a:r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b="1" dirty="0"/>
              <a:t>4 variables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total:</a:t>
            </a:r>
          </a:p>
          <a:p>
            <a:pPr marL="0" marR="0">
              <a:buNone/>
            </a:pPr>
            <a:endParaRPr lang="en-US" dirty="0">
              <a:effectLst/>
              <a:latin typeface="+mn-lt"/>
            </a:endParaRPr>
          </a:p>
          <a:p>
            <a:pPr marL="0" marR="0">
              <a:buNone/>
            </a:pPr>
            <a:r>
              <a:rPr lang="en-US" dirty="0">
                <a:effectLst/>
                <a:latin typeface="+mn-lt"/>
              </a:rPr>
              <a:t>(</a:t>
            </a:r>
            <a:r>
              <a:rPr lang="en-US" dirty="0">
                <a:effectLst/>
                <a:highlight>
                  <a:srgbClr val="FF0000"/>
                </a:highlight>
                <a:latin typeface="+mn-lt"/>
              </a:rPr>
              <a:t>Trees = “3”</a:t>
            </a:r>
            <a:r>
              <a:rPr lang="en-US" dirty="0">
                <a:effectLst/>
                <a:latin typeface="+mn-lt"/>
              </a:rPr>
              <a:t>, Variables = 4)</a:t>
            </a:r>
          </a:p>
          <a:p>
            <a:pPr marL="0" marR="0">
              <a:buNone/>
            </a:pPr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en-US" dirty="0">
                <a:effectLst/>
                <a:latin typeface="+mn-lt"/>
              </a:rPr>
              <a:t>🧪 </a:t>
            </a:r>
            <a:r>
              <a:rPr lang="en-US" b="1" dirty="0" err="1">
                <a:effectLst/>
                <a:latin typeface="+mn-lt"/>
              </a:rPr>
              <a:t>Acidez</a:t>
            </a:r>
            <a:r>
              <a:rPr lang="en-US" dirty="0">
                <a:effectLst/>
                <a:latin typeface="+mn-lt"/>
              </a:rPr>
              <a:t> (La variable </a:t>
            </a:r>
            <a:r>
              <a:rPr lang="en-US" dirty="0" err="1">
                <a:effectLst/>
                <a:latin typeface="+mn-lt"/>
              </a:rPr>
              <a:t>más</a:t>
            </a:r>
            <a:r>
              <a:rPr lang="en-US" dirty="0">
                <a:effectLst/>
                <a:latin typeface="+mn-lt"/>
              </a:rPr>
              <a:t> </a:t>
            </a:r>
            <a:r>
              <a:rPr lang="en-US" dirty="0" err="1">
                <a:effectLst/>
                <a:latin typeface="+mn-lt"/>
              </a:rPr>
              <a:t>poderosa</a:t>
            </a:r>
            <a:r>
              <a:rPr lang="en-US" dirty="0">
                <a:effectLst/>
                <a:latin typeface="+mn-lt"/>
              </a:rPr>
              <a:t> del dataset)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en-US" dirty="0">
                <a:effectLst/>
                <a:latin typeface="+mn-lt"/>
              </a:rPr>
              <a:t>🌡️ </a:t>
            </a:r>
            <a:r>
              <a:rPr lang="en-US" b="1" dirty="0" err="1">
                <a:effectLst/>
                <a:latin typeface="+mn-lt"/>
              </a:rPr>
              <a:t>Temperatura</a:t>
            </a:r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en-US" dirty="0">
                <a:effectLst/>
                <a:latin typeface="+mn-lt"/>
              </a:rPr>
              <a:t>🐄 </a:t>
            </a:r>
            <a:r>
              <a:rPr lang="en-US" b="1" dirty="0">
                <a:effectLst/>
                <a:latin typeface="+mn-lt"/>
              </a:rPr>
              <a:t>Leche</a:t>
            </a:r>
            <a:endParaRPr lang="en-US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en-US" dirty="0">
                <a:effectLst/>
                <a:latin typeface="+mn-lt"/>
              </a:rPr>
              <a:t>🧊 </a:t>
            </a:r>
            <a:r>
              <a:rPr lang="en-US" b="1" dirty="0" err="1">
                <a:effectLst/>
                <a:latin typeface="+mn-lt"/>
              </a:rPr>
              <a:t>Azúcar</a:t>
            </a:r>
            <a:endParaRPr lang="en-US" b="1" dirty="0"/>
          </a:p>
          <a:p>
            <a:pPr marL="0" marR="0" lvl="0" indent="-342900">
              <a:buFont typeface="+mj-lt"/>
              <a:buAutoNum type="arabicPeriod"/>
            </a:pPr>
            <a:endParaRPr lang="en-US" dirty="0">
              <a:effectLst/>
              <a:latin typeface="+mn-lt"/>
            </a:endParaRPr>
          </a:p>
          <a:p>
            <a:pPr marL="0" marR="0">
              <a:buNone/>
            </a:pPr>
            <a:r>
              <a:rPr lang="en-US" dirty="0" err="1">
                <a:effectLst/>
                <a:latin typeface="+mn-lt"/>
              </a:rPr>
              <a:t>Fijamos</a:t>
            </a:r>
            <a:r>
              <a:rPr lang="en-US" dirty="0">
                <a:effectLst/>
                <a:latin typeface="+mn-lt"/>
              </a:rPr>
              <a:t> el </a:t>
            </a:r>
            <a:r>
              <a:rPr lang="en-US" dirty="0" err="1">
                <a:effectLst/>
                <a:latin typeface="+mn-lt"/>
              </a:rPr>
              <a:t>parámetro</a:t>
            </a:r>
            <a:r>
              <a:rPr lang="en-US" dirty="0">
                <a:effectLst/>
                <a:latin typeface="+mn-lt"/>
              </a:rPr>
              <a:t> </a:t>
            </a:r>
            <a:r>
              <a:rPr lang="en-US" i="1" dirty="0" err="1">
                <a:effectLst/>
                <a:highlight>
                  <a:srgbClr val="FF0000"/>
                </a:highlight>
                <a:latin typeface="+mn-lt"/>
              </a:rPr>
              <a:t>mtry</a:t>
            </a:r>
            <a:r>
              <a:rPr lang="en-US" i="1" dirty="0">
                <a:effectLst/>
                <a:highlight>
                  <a:srgbClr val="FF0000"/>
                </a:highlight>
                <a:latin typeface="+mn-lt"/>
              </a:rPr>
              <a:t> = 2</a:t>
            </a:r>
            <a:r>
              <a:rPr lang="en-US" dirty="0">
                <a:effectLst/>
                <a:latin typeface="+mn-lt"/>
              </a:rPr>
              <a:t>. Esto </a:t>
            </a:r>
            <a:r>
              <a:rPr lang="en-US" dirty="0" err="1">
                <a:effectLst/>
                <a:latin typeface="+mn-lt"/>
              </a:rPr>
              <a:t>significa</a:t>
            </a:r>
            <a:r>
              <a:rPr lang="en-US" dirty="0">
                <a:effectLst/>
                <a:latin typeface="+mn-lt"/>
              </a:rPr>
              <a:t> </a:t>
            </a:r>
            <a:r>
              <a:rPr lang="en-US" dirty="0" err="1">
                <a:effectLst/>
                <a:latin typeface="+mn-lt"/>
              </a:rPr>
              <a:t>que</a:t>
            </a:r>
            <a:r>
              <a:rPr lang="en-US" dirty="0">
                <a:effectLst/>
                <a:latin typeface="+mn-lt"/>
              </a:rPr>
              <a:t> antes de </a:t>
            </a:r>
            <a:r>
              <a:rPr lang="en-US" dirty="0" err="1">
                <a:effectLst/>
                <a:latin typeface="+mn-lt"/>
              </a:rPr>
              <a:t>hacer</a:t>
            </a:r>
            <a:r>
              <a:rPr lang="en-US" dirty="0">
                <a:effectLst/>
                <a:latin typeface="+mn-lt"/>
              </a:rPr>
              <a:t> </a:t>
            </a:r>
            <a:r>
              <a:rPr lang="en-US" i="1" dirty="0" err="1">
                <a:effectLst/>
                <a:latin typeface="+mn-lt"/>
              </a:rPr>
              <a:t>cualquier</a:t>
            </a:r>
            <a:r>
              <a:rPr lang="en-US" dirty="0">
                <a:effectLst/>
                <a:latin typeface="+mn-lt"/>
              </a:rPr>
              <a:t> </a:t>
            </a:r>
            <a:r>
              <a:rPr lang="en-US" dirty="0" err="1">
                <a:effectLst/>
                <a:latin typeface="+mn-lt"/>
              </a:rPr>
              <a:t>pregunta</a:t>
            </a:r>
            <a:r>
              <a:rPr lang="en-US" dirty="0">
                <a:effectLst/>
                <a:latin typeface="+mn-lt"/>
              </a:rPr>
              <a:t> </a:t>
            </a:r>
            <a:r>
              <a:rPr lang="en-US" dirty="0" err="1">
                <a:effectLst/>
                <a:latin typeface="+mn-lt"/>
              </a:rPr>
              <a:t>en</a:t>
            </a:r>
            <a:r>
              <a:rPr lang="en-US" dirty="0">
                <a:effectLst/>
                <a:latin typeface="+mn-lt"/>
              </a:rPr>
              <a:t> </a:t>
            </a:r>
            <a:r>
              <a:rPr lang="en-US" i="1" dirty="0" err="1">
                <a:effectLst/>
                <a:latin typeface="+mn-lt"/>
              </a:rPr>
              <a:t>cualquier</a:t>
            </a:r>
            <a:r>
              <a:rPr lang="en-US" dirty="0">
                <a:effectLst/>
                <a:latin typeface="+mn-lt"/>
              </a:rPr>
              <a:t> </a:t>
            </a:r>
            <a:r>
              <a:rPr lang="en-US" dirty="0" err="1">
                <a:effectLst/>
                <a:latin typeface="+mn-lt"/>
              </a:rPr>
              <a:t>nodo</a:t>
            </a:r>
            <a:r>
              <a:rPr lang="en-US" dirty="0">
                <a:effectLst/>
                <a:latin typeface="+mn-lt"/>
              </a:rPr>
              <a:t>, el </a:t>
            </a:r>
            <a:r>
              <a:rPr lang="en-US" dirty="0" err="1">
                <a:effectLst/>
                <a:latin typeface="+mn-lt"/>
              </a:rPr>
              <a:t>algoritmo</a:t>
            </a:r>
            <a:r>
              <a:rPr lang="en-US" dirty="0">
                <a:effectLst/>
                <a:latin typeface="+mn-lt"/>
              </a:rPr>
              <a:t> </a:t>
            </a:r>
            <a:r>
              <a:rPr lang="en-US" b="1" dirty="0">
                <a:effectLst/>
                <a:latin typeface="+mn-lt"/>
              </a:rPr>
              <a:t>mete la mano </a:t>
            </a:r>
            <a:r>
              <a:rPr lang="en-US" b="1" dirty="0" err="1">
                <a:effectLst/>
                <a:latin typeface="+mn-lt"/>
              </a:rPr>
              <a:t>en</a:t>
            </a:r>
            <a:r>
              <a:rPr lang="en-US" b="1" dirty="0">
                <a:effectLst/>
                <a:latin typeface="+mn-lt"/>
              </a:rPr>
              <a:t> la </a:t>
            </a:r>
            <a:r>
              <a:rPr lang="en-US" b="1" dirty="0" err="1">
                <a:effectLst/>
                <a:latin typeface="+mn-lt"/>
              </a:rPr>
              <a:t>bolsa</a:t>
            </a:r>
            <a:r>
              <a:rPr lang="en-US" b="1" dirty="0">
                <a:effectLst/>
                <a:latin typeface="+mn-lt"/>
              </a:rPr>
              <a:t> y </a:t>
            </a:r>
            <a:r>
              <a:rPr lang="en-US" b="1" dirty="0" err="1">
                <a:effectLst/>
                <a:latin typeface="+mn-lt"/>
              </a:rPr>
              <a:t>saca</a:t>
            </a:r>
            <a:r>
              <a:rPr lang="en-US" b="1" dirty="0">
                <a:effectLst/>
                <a:latin typeface="+mn-lt"/>
              </a:rPr>
              <a:t> solo 2 cartas al azar</a:t>
            </a:r>
            <a:r>
              <a:rPr lang="en-US" dirty="0">
                <a:effectLst/>
                <a:latin typeface="+mn-lt"/>
              </a:rPr>
              <a:t>.</a:t>
            </a:r>
          </a:p>
          <a:p>
            <a:pPr marL="0" marR="0">
              <a:buNone/>
            </a:pPr>
            <a:endParaRPr lang="en-US" dirty="0"/>
          </a:p>
          <a:p>
            <a:r>
              <a:rPr lang="en-US" dirty="0"/>
              <a:t>Cada </a:t>
            </a:r>
            <a:r>
              <a:rPr lang="en-US" dirty="0" err="1"/>
              <a:t>vez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a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pregunta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nodo</a:t>
            </a:r>
            <a:r>
              <a:rPr lang="en-US" dirty="0"/>
              <a:t>, </a:t>
            </a:r>
            <a:r>
              <a:rPr lang="en-US" b="1" dirty="0"/>
              <a:t>mete las variables </a:t>
            </a:r>
            <a:r>
              <a:rPr lang="en-US" b="1" dirty="0" err="1"/>
              <a:t>disponibles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bolsa</a:t>
            </a:r>
            <a:r>
              <a:rPr lang="en-US" b="1" dirty="0"/>
              <a:t> y </a:t>
            </a:r>
            <a:r>
              <a:rPr lang="en-US" b="1" dirty="0" err="1"/>
              <a:t>saca</a:t>
            </a:r>
            <a:r>
              <a:rPr lang="en-US" b="1" dirty="0"/>
              <a:t> </a:t>
            </a:r>
            <a:r>
              <a:rPr lang="en-US" b="1" dirty="0" err="1"/>
              <a:t>exactamente</a:t>
            </a:r>
            <a:r>
              <a:rPr lang="en-US" b="1" dirty="0"/>
              <a:t> 2 al azar</a:t>
            </a:r>
            <a:r>
              <a:rPr lang="en-US" dirty="0"/>
              <a:t>.</a:t>
            </a:r>
          </a:p>
          <a:p>
            <a:endParaRPr lang="en-US" dirty="0">
              <a:effectLst/>
              <a:latin typeface="Google Sans Tex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1FB23-1EDD-DD66-6D19-CD21864824C1}"/>
              </a:ext>
            </a:extLst>
          </p:cNvPr>
          <p:cNvSpPr txBox="1"/>
          <p:nvPr/>
        </p:nvSpPr>
        <p:spPr>
          <a:xfrm>
            <a:off x="7493001" y="566678"/>
            <a:ext cx="42780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Las 2 variables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salen</a:t>
            </a:r>
            <a:r>
              <a:rPr lang="en-US" dirty="0"/>
              <a:t> </a:t>
            </a:r>
            <a:r>
              <a:rPr lang="en-US" dirty="0" err="1"/>
              <a:t>compiten</a:t>
            </a:r>
            <a:r>
              <a:rPr lang="en-US" dirty="0"/>
              <a:t> entre </a:t>
            </a:r>
            <a:r>
              <a:rPr lang="en-US" dirty="0" err="1"/>
              <a:t>sí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el </a:t>
            </a:r>
            <a:r>
              <a:rPr lang="en-US" b="1" dirty="0" err="1"/>
              <a:t>Índice</a:t>
            </a:r>
            <a:r>
              <a:rPr lang="en-US" b="1" dirty="0"/>
              <a:t> Gini</a:t>
            </a:r>
            <a:r>
              <a:rPr lang="en-US" dirty="0"/>
              <a:t> (la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separe</a:t>
            </a:r>
            <a:r>
              <a:rPr lang="en-US" dirty="0"/>
              <a:t> </a:t>
            </a:r>
            <a:r>
              <a:rPr lang="en-US" dirty="0" err="1"/>
              <a:t>mejor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👍 de </a:t>
            </a:r>
            <a:r>
              <a:rPr lang="en-US" dirty="0" err="1"/>
              <a:t>los</a:t>
            </a:r>
            <a:r>
              <a:rPr lang="en-US" dirty="0"/>
              <a:t> 👎 </a:t>
            </a:r>
            <a:r>
              <a:rPr lang="en-US" dirty="0" err="1"/>
              <a:t>gana</a:t>
            </a:r>
            <a:r>
              <a:rPr lang="en-US" dirty="0"/>
              <a:t> la </a:t>
            </a:r>
            <a:r>
              <a:rPr lang="en-US" dirty="0" err="1"/>
              <a:t>pregunta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Las 2 variables </a:t>
            </a:r>
            <a:r>
              <a:rPr lang="en-US" dirty="0" err="1"/>
              <a:t>que</a:t>
            </a:r>
            <a:r>
              <a:rPr lang="en-US" dirty="0"/>
              <a:t> no </a:t>
            </a:r>
            <a:r>
              <a:rPr lang="en-US" dirty="0" err="1"/>
              <a:t>salieron</a:t>
            </a:r>
            <a:r>
              <a:rPr lang="en-US" dirty="0"/>
              <a:t> </a:t>
            </a:r>
            <a:r>
              <a:rPr lang="en-US" b="1" dirty="0"/>
              <a:t>se </a:t>
            </a:r>
            <a:r>
              <a:rPr lang="en-US" b="1" dirty="0" err="1"/>
              <a:t>quedan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la </a:t>
            </a:r>
            <a:r>
              <a:rPr lang="en-US" b="1" dirty="0" err="1"/>
              <a:t>bolsa</a:t>
            </a:r>
            <a:r>
              <a:rPr lang="en-US" dirty="0"/>
              <a:t> y no </a:t>
            </a:r>
            <a:r>
              <a:rPr lang="en-US" dirty="0" err="1"/>
              <a:t>participan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ese </a:t>
            </a:r>
            <a:r>
              <a:rPr lang="en-US" dirty="0" err="1"/>
              <a:t>turno</a:t>
            </a:r>
            <a:r>
              <a:rPr lang="en-US" dirty="0"/>
              <a:t> (a </a:t>
            </a:r>
            <a:r>
              <a:rPr lang="en-US" dirty="0" err="1"/>
              <a:t>eso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referíamos</a:t>
            </a:r>
            <a:r>
              <a:rPr lang="en-US" dirty="0"/>
              <a:t> con "</a:t>
            </a:r>
            <a:r>
              <a:rPr lang="en-US" dirty="0" err="1"/>
              <a:t>bloqueadas</a:t>
            </a:r>
            <a:r>
              <a:rPr lang="en-US" dirty="0"/>
              <a:t>").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454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6A31D6A-523E-6E80-6836-ABC0F487EE98}"/>
              </a:ext>
            </a:extLst>
          </p:cNvPr>
          <p:cNvGrpSpPr/>
          <p:nvPr/>
        </p:nvGrpSpPr>
        <p:grpSpPr>
          <a:xfrm>
            <a:off x="288141" y="1843472"/>
            <a:ext cx="4417783" cy="2401949"/>
            <a:chOff x="5079671" y="3111552"/>
            <a:chExt cx="6062352" cy="257497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F3BBF6B-E9E1-CA6D-CDD1-897BAD8EF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9671" y="3111552"/>
              <a:ext cx="6062352" cy="257497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C973326-31F6-D11C-F6D5-8178D472DB38}"/>
                    </a:ext>
                  </a:extLst>
                </p:cNvPr>
                <p:cNvSpPr txBox="1"/>
                <p:nvPr/>
              </p:nvSpPr>
              <p:spPr>
                <a:xfrm>
                  <a:off x="5316473" y="3409142"/>
                  <a:ext cx="2033648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100" dirty="0">
                      <a:solidFill>
                        <a:schemeClr val="bg1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1100" i="0" smtClean="0">
                          <a:solidFill>
                            <a:schemeClr val="bg1"/>
                          </a:solidFill>
                        </a:rPr>
                        <m:t>pH</m:t>
                      </m:r>
                      <m:r>
                        <a:rPr lang="en-US" sz="1100" i="0">
                          <a:solidFill>
                            <a:schemeClr val="bg1"/>
                          </a:solidFill>
                        </a:rPr>
                        <m:t>≈5</m:t>
                      </m:r>
                    </m:oMath>
                  </a14:m>
                  <a:r>
                    <a:rPr lang="en-US" sz="1100" dirty="0">
                      <a:solidFill>
                        <a:schemeClr val="bg1"/>
                      </a:solidFill>
                    </a:rPr>
                    <a:t>, </a:t>
                  </a:r>
                  <a:r>
                    <a:rPr lang="en-US" sz="1100" dirty="0" err="1">
                      <a:solidFill>
                        <a:schemeClr val="bg1"/>
                      </a:solidFill>
                    </a:rPr>
                    <a:t>acidez</a:t>
                  </a:r>
                  <a:r>
                    <a:rPr lang="en-US" sz="1100" dirty="0">
                      <a:solidFill>
                        <a:schemeClr val="bg1"/>
                      </a:solidFill>
                    </a:rPr>
                    <a:t> </a:t>
                  </a:r>
                  <a:r>
                    <a:rPr lang="en-US" sz="1100" dirty="0" err="1">
                      <a:solidFill>
                        <a:schemeClr val="bg1"/>
                      </a:solidFill>
                    </a:rPr>
                    <a:t>adecuada</a:t>
                  </a:r>
                  <a:r>
                    <a:rPr lang="en-US" sz="1100" dirty="0">
                      <a:solidFill>
                        <a:schemeClr val="bg1"/>
                      </a:solidFill>
                    </a:rPr>
                    <a:t>)</a:t>
                  </a: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C973326-31F6-D11C-F6D5-8178D472D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6473" y="3409142"/>
                  <a:ext cx="2033648" cy="261610"/>
                </a:xfrm>
                <a:prstGeom prst="rect">
                  <a:avLst/>
                </a:prstGeom>
                <a:blipFill>
                  <a:blip r:embed="rId4"/>
                  <a:stretch>
                    <a:fillRect b="-8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C6FD0E-B49B-77E4-38FE-AC71ED07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#1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98A35-BDAA-BE00-758E-8E2314BFE785}"/>
              </a:ext>
            </a:extLst>
          </p:cNvPr>
          <p:cNvSpPr txBox="1"/>
          <p:nvPr/>
        </p:nvSpPr>
        <p:spPr>
          <a:xfrm>
            <a:off x="3047011" y="704740"/>
            <a:ext cx="6097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Salen:</a:t>
            </a:r>
            <a:r>
              <a:rPr lang="en-US" dirty="0"/>
              <a:t> 🧪 </a:t>
            </a:r>
            <a:r>
              <a:rPr lang="en-US" b="1" dirty="0" err="1"/>
              <a:t>Acidez</a:t>
            </a:r>
            <a:r>
              <a:rPr lang="en-US" dirty="0"/>
              <a:t> y 🌡️ </a:t>
            </a:r>
            <a:r>
              <a:rPr lang="en-US" b="1" dirty="0" err="1"/>
              <a:t>Temperatura</a:t>
            </a:r>
            <a:r>
              <a:rPr lang="en-US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Se </a:t>
            </a:r>
            <a:r>
              <a:rPr lang="en-US" b="1" dirty="0" err="1"/>
              <a:t>quedan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la </a:t>
            </a:r>
            <a:r>
              <a:rPr lang="en-US" b="1" dirty="0" err="1"/>
              <a:t>bolsa</a:t>
            </a:r>
            <a:r>
              <a:rPr lang="en-US" b="1" dirty="0"/>
              <a:t>:</a:t>
            </a:r>
            <a:r>
              <a:rPr lang="en-US" dirty="0"/>
              <a:t> 🐄 </a:t>
            </a:r>
            <a:r>
              <a:rPr lang="en-US" b="1" dirty="0"/>
              <a:t>Leche</a:t>
            </a:r>
            <a:r>
              <a:rPr lang="en-US" dirty="0"/>
              <a:t> y 🧊 </a:t>
            </a:r>
            <a:r>
              <a:rPr lang="en-US" b="1" dirty="0" err="1"/>
              <a:t>Azúcar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E192D-936F-5D37-5419-B8DEE4CA1749}"/>
              </a:ext>
            </a:extLst>
          </p:cNvPr>
          <p:cNvSpPr txBox="1"/>
          <p:nvPr/>
        </p:nvSpPr>
        <p:spPr>
          <a:xfrm>
            <a:off x="6096000" y="4434037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Salen:</a:t>
            </a:r>
            <a:r>
              <a:rPr lang="en-US" dirty="0"/>
              <a:t> 🌡️ </a:t>
            </a:r>
            <a:r>
              <a:rPr lang="en-US" b="1" dirty="0" err="1"/>
              <a:t>Temperatura</a:t>
            </a:r>
            <a:r>
              <a:rPr lang="en-US" dirty="0"/>
              <a:t> y 🧊 </a:t>
            </a:r>
            <a:r>
              <a:rPr lang="en-US" b="1" dirty="0" err="1"/>
              <a:t>Azúcar</a:t>
            </a:r>
            <a:r>
              <a:rPr lang="en-US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Gana: 🌡️  </a:t>
            </a:r>
            <a:r>
              <a:rPr lang="en-US" dirty="0" err="1"/>
              <a:t>Temperatura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Se </a:t>
            </a:r>
            <a:r>
              <a:rPr lang="en-US" b="1" dirty="0" err="1"/>
              <a:t>queda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la </a:t>
            </a:r>
            <a:r>
              <a:rPr lang="en-US" b="1" dirty="0" err="1"/>
              <a:t>bolsa</a:t>
            </a:r>
            <a:r>
              <a:rPr lang="en-US" b="1" dirty="0"/>
              <a:t>:</a:t>
            </a:r>
            <a:r>
              <a:rPr lang="en-US" dirty="0"/>
              <a:t> 🐄 </a:t>
            </a:r>
            <a:r>
              <a:rPr lang="en-US" b="1" dirty="0"/>
              <a:t>Leche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B9F28E-2C56-AD09-17D9-0DCC81BD6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0217" y="1788487"/>
            <a:ext cx="5816600" cy="431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69EFBA-842A-1125-0EB1-AE2EB2C6B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902" y="2549987"/>
            <a:ext cx="3175000" cy="4826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2CC5D5-7284-0F21-6BB3-29D6DBD7EE96}"/>
              </a:ext>
            </a:extLst>
          </p:cNvPr>
          <p:cNvCxnSpPr/>
          <p:nvPr/>
        </p:nvCxnSpPr>
        <p:spPr>
          <a:xfrm flipV="1">
            <a:off x="5755902" y="2612221"/>
            <a:ext cx="1123043" cy="539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07757D39-1F35-B049-7DE3-617A027C6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3617" y="3358148"/>
            <a:ext cx="4749800" cy="431800"/>
          </a:xfrm>
          <a:prstGeom prst="rect">
            <a:avLst/>
          </a:prstGeom>
        </p:spPr>
      </p:pic>
      <p:sp>
        <p:nvSpPr>
          <p:cNvPr id="15" name="Left Bracket 14">
            <a:extLst>
              <a:ext uri="{FF2B5EF4-FFF2-40B4-BE49-F238E27FC236}">
                <a16:creationId xmlns:a16="http://schemas.microsoft.com/office/drawing/2014/main" id="{609CED06-5B3F-6EEA-4412-386EBF6358F1}"/>
              </a:ext>
            </a:extLst>
          </p:cNvPr>
          <p:cNvSpPr/>
          <p:nvPr/>
        </p:nvSpPr>
        <p:spPr>
          <a:xfrm rot="16200000">
            <a:off x="7007477" y="1564389"/>
            <a:ext cx="276998" cy="155905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78AB9FC5-ACB3-534C-3390-C5E9D514F207}"/>
              </a:ext>
            </a:extLst>
          </p:cNvPr>
          <p:cNvSpPr/>
          <p:nvPr/>
        </p:nvSpPr>
        <p:spPr>
          <a:xfrm rot="16200000">
            <a:off x="8491131" y="2738242"/>
            <a:ext cx="257987" cy="2496546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23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284B-706B-6962-DB54-1E67FB22E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#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69D51B-3001-D40D-3402-45452DC7B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380" y="3106428"/>
            <a:ext cx="4991100" cy="49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F2497B-0ED6-7456-E3A4-28B73A6D2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110" y="4372065"/>
            <a:ext cx="3302000" cy="520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902E51-AE6F-EB5E-AAE1-A8840CE47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245" y="5157668"/>
            <a:ext cx="1130300" cy="647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03CB41-0476-1272-EB49-011FF00B3E3C}"/>
              </a:ext>
            </a:extLst>
          </p:cNvPr>
          <p:cNvSpPr txBox="1"/>
          <p:nvPr/>
        </p:nvSpPr>
        <p:spPr>
          <a:xfrm>
            <a:off x="6567054" y="2759365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5EB878-315B-9DA5-B5E8-DFB387DD5B73}"/>
              </a:ext>
            </a:extLst>
          </p:cNvPr>
          <p:cNvSpPr txBox="1"/>
          <p:nvPr/>
        </p:nvSpPr>
        <p:spPr>
          <a:xfrm>
            <a:off x="8951110" y="444214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Gini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0BC80F-4EC0-C663-34E6-F49966D41420}"/>
              </a:ext>
            </a:extLst>
          </p:cNvPr>
          <p:cNvSpPr txBox="1"/>
          <p:nvPr/>
        </p:nvSpPr>
        <p:spPr>
          <a:xfrm>
            <a:off x="7101842" y="5296852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99208C-B3D9-E2B6-DA0C-914025081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8245" y="1258888"/>
            <a:ext cx="5816600" cy="4318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262E82-69BD-CD25-56A0-50758AAE9399}"/>
              </a:ext>
            </a:extLst>
          </p:cNvPr>
          <p:cNvCxnSpPr/>
          <p:nvPr/>
        </p:nvCxnSpPr>
        <p:spPr>
          <a:xfrm flipV="1">
            <a:off x="8769103" y="1191475"/>
            <a:ext cx="1123043" cy="539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C7874EAE-B675-E60A-47DC-B2EAED66A417}"/>
              </a:ext>
            </a:extLst>
          </p:cNvPr>
          <p:cNvSpPr/>
          <p:nvPr/>
        </p:nvSpPr>
        <p:spPr>
          <a:xfrm rot="16200000">
            <a:off x="9971651" y="1157716"/>
            <a:ext cx="276998" cy="155905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E66D7C-248D-5D52-B0E9-1A497199C4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49" y="1870279"/>
            <a:ext cx="4991100" cy="1983744"/>
          </a:xfrm>
          <a:prstGeom prst="rect">
            <a:avLst/>
          </a:prstGeom>
        </p:spPr>
      </p:pic>
      <p:sp>
        <p:nvSpPr>
          <p:cNvPr id="19" name="Left Bracket 18">
            <a:extLst>
              <a:ext uri="{FF2B5EF4-FFF2-40B4-BE49-F238E27FC236}">
                <a16:creationId xmlns:a16="http://schemas.microsoft.com/office/drawing/2014/main" id="{F56398C4-974C-7BD9-6F43-69DC39963F25}"/>
              </a:ext>
            </a:extLst>
          </p:cNvPr>
          <p:cNvSpPr/>
          <p:nvPr/>
        </p:nvSpPr>
        <p:spPr>
          <a:xfrm rot="16200000">
            <a:off x="6954153" y="2965414"/>
            <a:ext cx="276998" cy="155905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96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F3320-6B56-AA0A-D877-26FED5E5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0E6C-8C1F-05D3-77E3-D59152AC8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#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5EC395-736F-A7F8-415F-23F4F42F5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489" y="1045018"/>
            <a:ext cx="5981700" cy="546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039773-BABF-389D-B131-1AB9AECE4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859" y="2067811"/>
            <a:ext cx="3175000" cy="406400"/>
          </a:xfrm>
          <a:prstGeom prst="rect">
            <a:avLst/>
          </a:prstGeom>
        </p:spPr>
      </p:pic>
      <p:sp>
        <p:nvSpPr>
          <p:cNvPr id="20" name="Left Bracket 19">
            <a:extLst>
              <a:ext uri="{FF2B5EF4-FFF2-40B4-BE49-F238E27FC236}">
                <a16:creationId xmlns:a16="http://schemas.microsoft.com/office/drawing/2014/main" id="{F7C2EABE-C516-CA04-A922-AC17CAEBFD19}"/>
              </a:ext>
            </a:extLst>
          </p:cNvPr>
          <p:cNvSpPr/>
          <p:nvPr/>
        </p:nvSpPr>
        <p:spPr>
          <a:xfrm rot="16200000">
            <a:off x="7819731" y="2963383"/>
            <a:ext cx="261432" cy="267212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491FE4-340F-7C53-CF71-07ED805F36FB}"/>
              </a:ext>
            </a:extLst>
          </p:cNvPr>
          <p:cNvCxnSpPr/>
          <p:nvPr/>
        </p:nvCxnSpPr>
        <p:spPr>
          <a:xfrm flipV="1">
            <a:off x="6137316" y="2001083"/>
            <a:ext cx="1123043" cy="539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67F392EA-3417-EE1E-7488-6E75712D7B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162" t="25915" b="26212"/>
          <a:stretch>
            <a:fillRect/>
          </a:stretch>
        </p:blipFill>
        <p:spPr>
          <a:xfrm>
            <a:off x="7540666" y="3702131"/>
            <a:ext cx="2861498" cy="2614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3A493D-E514-CBA4-4D01-6F25BF3379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99" r="76539"/>
          <a:stretch>
            <a:fillRect/>
          </a:stretch>
        </p:blipFill>
        <p:spPr>
          <a:xfrm>
            <a:off x="6137316" y="3617409"/>
            <a:ext cx="1403350" cy="430874"/>
          </a:xfrm>
          <a:prstGeom prst="rect">
            <a:avLst/>
          </a:prstGeom>
        </p:spPr>
      </p:pic>
      <p:sp>
        <p:nvSpPr>
          <p:cNvPr id="24" name="Left Bracket 23">
            <a:extLst>
              <a:ext uri="{FF2B5EF4-FFF2-40B4-BE49-F238E27FC236}">
                <a16:creationId xmlns:a16="http://schemas.microsoft.com/office/drawing/2014/main" id="{BC19AD23-CCD1-BB72-C8C5-A400635D7915}"/>
              </a:ext>
            </a:extLst>
          </p:cNvPr>
          <p:cNvSpPr/>
          <p:nvPr/>
        </p:nvSpPr>
        <p:spPr>
          <a:xfrm rot="16200000">
            <a:off x="9455599" y="356581"/>
            <a:ext cx="261431" cy="3035303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F0A0A7-C32D-21B6-A58C-A02094871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042" y="1484895"/>
            <a:ext cx="5011970" cy="20325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AA4F597-2AAC-C46E-A970-749F9EAB66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028"/>
          <a:stretch>
            <a:fillRect/>
          </a:stretch>
        </p:blipFill>
        <p:spPr>
          <a:xfrm>
            <a:off x="6222504" y="4869803"/>
            <a:ext cx="1459593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21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207306-5D76-DD30-106C-F95B6D4577F6}"/>
                  </a:ext>
                </a:extLst>
              </p:cNvPr>
              <p:cNvSpPr txBox="1"/>
              <p:nvPr/>
            </p:nvSpPr>
            <p:spPr>
              <a:xfrm>
                <a:off x="673925" y="421389"/>
                <a:ext cx="10453254" cy="6124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/>
                  <a:t>LA PREDICCION FINAL DEL BOSQUE (VOTACIÓN DE LOS 3 ÁRBOLES)</a:t>
                </a:r>
              </a:p>
              <a:p>
                <a:r>
                  <a:rPr lang="en-US" sz="1400" dirty="0" err="1"/>
                  <a:t>Llega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persona </a:t>
                </a:r>
                <a:r>
                  <a:rPr lang="en-US" sz="1400" dirty="0" err="1"/>
                  <a:t>nueva</a:t>
                </a:r>
                <a:r>
                  <a:rPr lang="en-US" sz="1400" dirty="0"/>
                  <a:t> a la </a:t>
                </a:r>
                <a:r>
                  <a:rPr lang="en-US" sz="1400" dirty="0" err="1"/>
                  <a:t>cafetería</a:t>
                </a:r>
                <a:r>
                  <a:rPr lang="en-US" sz="1400" dirty="0"/>
                  <a:t> con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taza</a:t>
                </a:r>
                <a:r>
                  <a:rPr lang="en-US" sz="1400" dirty="0"/>
                  <a:t> de café </a:t>
                </a:r>
                <a:r>
                  <a:rPr lang="en-US" sz="1400" dirty="0" err="1"/>
                  <a:t>que</a:t>
                </a:r>
                <a:r>
                  <a:rPr lang="en-US" sz="1400" dirty="0"/>
                  <a:t> es:</a:t>
                </a:r>
              </a:p>
              <a:p>
                <a:pPr lvl="0"/>
                <a:r>
                  <a:rPr lang="en-US" sz="1400" b="1" dirty="0"/>
                  <a:t>Mala </a:t>
                </a:r>
                <a:r>
                  <a:rPr lang="en-US" sz="1400" b="1" dirty="0" err="1"/>
                  <a:t>Acidez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muy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agrio</a:t>
                </a:r>
                <a:r>
                  <a:rPr lang="en-US" sz="1400" dirty="0"/>
                  <a:t>)</a:t>
                </a:r>
              </a:p>
              <a:p>
                <a:pPr lvl="0"/>
                <a:r>
                  <a:rPr lang="en-US" sz="1400" b="1" dirty="0" err="1"/>
                  <a:t>Está</a:t>
                </a:r>
                <a:r>
                  <a:rPr lang="en-US" sz="1400" b="1" dirty="0"/>
                  <a:t> Caliente</a:t>
                </a:r>
                <a:endParaRPr lang="en-US" sz="1400" dirty="0"/>
              </a:p>
              <a:p>
                <a:pPr lvl="0"/>
                <a:r>
                  <a:rPr lang="en-US" sz="1400" b="1" dirty="0"/>
                  <a:t>Tiene Leche</a:t>
                </a:r>
                <a:endParaRPr lang="en-US" sz="1400" dirty="0"/>
              </a:p>
              <a:p>
                <a:pPr lvl="0"/>
                <a:r>
                  <a:rPr lang="en-US" sz="1400" b="1" dirty="0"/>
                  <a:t>Tiene </a:t>
                </a:r>
                <a:r>
                  <a:rPr lang="en-US" sz="1400" b="1" dirty="0" err="1"/>
                  <a:t>Azúcar</a:t>
                </a:r>
                <a:endParaRPr lang="en-US" sz="1400" dirty="0"/>
              </a:p>
              <a:p>
                <a:r>
                  <a:rPr lang="en-US" sz="1400" dirty="0" err="1"/>
                  <a:t>Pasamos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taza</a:t>
                </a:r>
                <a:r>
                  <a:rPr lang="en-US" sz="1400" dirty="0"/>
                  <a:t> de café </a:t>
                </a:r>
                <a:r>
                  <a:rPr lang="en-US" sz="1400" dirty="0" err="1"/>
                  <a:t>por</a:t>
                </a:r>
                <a:r>
                  <a:rPr lang="en-US" sz="1400" dirty="0"/>
                  <a:t> el </a:t>
                </a:r>
                <a:r>
                  <a:rPr lang="en-US" sz="1400" dirty="0" err="1"/>
                  <a:t>comité</a:t>
                </a:r>
                <a:r>
                  <a:rPr lang="en-US" sz="1400" dirty="0"/>
                  <a:t> de </a:t>
                </a:r>
                <a:r>
                  <a:rPr lang="en-US" sz="1400" dirty="0" err="1"/>
                  <a:t>los</a:t>
                </a:r>
                <a:r>
                  <a:rPr lang="en-US" sz="1400" dirty="0"/>
                  <a:t> 3 </a:t>
                </a:r>
                <a:r>
                  <a:rPr lang="en-US" sz="1400" dirty="0" err="1"/>
                  <a:t>árboles</a:t>
                </a:r>
                <a:r>
                  <a:rPr lang="en-US" sz="1400" dirty="0"/>
                  <a:t>:</a:t>
                </a:r>
              </a:p>
              <a:p>
                <a:pPr lvl="0"/>
                <a:endParaRPr lang="en-US" sz="1400" b="1" dirty="0"/>
              </a:p>
              <a:p>
                <a:pPr lvl="0"/>
                <a:r>
                  <a:rPr lang="en-US" sz="1400" b="1" dirty="0" err="1"/>
                  <a:t>Evaluación</a:t>
                </a:r>
                <a:r>
                  <a:rPr lang="en-US" sz="1400" b="1" dirty="0"/>
                  <a:t> del Árbol 1:</a:t>
                </a:r>
                <a:endParaRPr lang="en-US" sz="1400" dirty="0"/>
              </a:p>
              <a:p>
                <a:pPr lvl="1"/>
                <a:r>
                  <a:rPr lang="en-US" sz="1400" dirty="0"/>
                  <a:t>Mira la </a:t>
                </a:r>
                <a:r>
                  <a:rPr lang="en-US" sz="1400" dirty="0" err="1"/>
                  <a:t>acidez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/>
                      <m:t>→</m:t>
                    </m:r>
                  </m:oMath>
                </a14:m>
                <a:r>
                  <a:rPr lang="en-US" sz="1400" dirty="0"/>
                  <a:t>Es </a:t>
                </a:r>
                <a:r>
                  <a:rPr lang="en-US" sz="1400" b="1" dirty="0"/>
                  <a:t>Mala</a:t>
                </a:r>
                <a:r>
                  <a:rPr lang="en-US" sz="1400" dirty="0"/>
                  <a:t>. Va a la </a:t>
                </a:r>
                <a:r>
                  <a:rPr lang="en-US" sz="1400" dirty="0" err="1"/>
                  <a:t>rama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derecha</a:t>
                </a:r>
                <a:r>
                  <a:rPr lang="en-US" sz="1400" dirty="0"/>
                  <a:t>.</a:t>
                </a:r>
              </a:p>
              <a:p>
                <a:pPr lvl="1"/>
                <a:r>
                  <a:rPr lang="en-US" sz="1400" b="1" dirty="0"/>
                  <a:t>Voto del Árbol 1: 👎 (NO GUSTA)</a:t>
                </a:r>
                <a:endParaRPr lang="en-US" sz="1400" dirty="0"/>
              </a:p>
              <a:p>
                <a:pPr lvl="0"/>
                <a:r>
                  <a:rPr lang="en-US" sz="1400" b="1" dirty="0" err="1"/>
                  <a:t>Evaluación</a:t>
                </a:r>
                <a:r>
                  <a:rPr lang="en-US" sz="1400" b="1" dirty="0"/>
                  <a:t> del Árbol 2:</a:t>
                </a:r>
                <a:endParaRPr lang="en-US" sz="1400" dirty="0"/>
              </a:p>
              <a:p>
                <a:pPr lvl="1"/>
                <a:r>
                  <a:rPr lang="en-US" sz="1400" dirty="0"/>
                  <a:t>Mira la leche </a:t>
                </a:r>
                <a14:m>
                  <m:oMath xmlns:m="http://schemas.openxmlformats.org/officeDocument/2006/math">
                    <m:r>
                      <a:rPr lang="en-US" sz="1400"/>
                      <m:t>→</m:t>
                    </m:r>
                  </m:oMath>
                </a14:m>
                <a:r>
                  <a:rPr lang="en-US" sz="1400" b="1" dirty="0" err="1"/>
                  <a:t>Sí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tiene</a:t>
                </a:r>
                <a:r>
                  <a:rPr lang="en-US" sz="1400" dirty="0"/>
                  <a:t>. Pasa al </a:t>
                </a:r>
                <a:r>
                  <a:rPr lang="en-US" sz="1400" dirty="0" err="1"/>
                  <a:t>segundo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nivel</a:t>
                </a:r>
                <a:r>
                  <a:rPr lang="en-US" sz="1400" dirty="0"/>
                  <a:t>.</a:t>
                </a:r>
              </a:p>
              <a:p>
                <a:pPr lvl="1"/>
                <a:r>
                  <a:rPr lang="en-US" sz="1400" dirty="0"/>
                  <a:t>Mira la </a:t>
                </a:r>
                <a:r>
                  <a:rPr lang="en-US" sz="1400" dirty="0" err="1"/>
                  <a:t>acidez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/>
                      <m:t>→</m:t>
                    </m:r>
                  </m:oMath>
                </a14:m>
                <a:r>
                  <a:rPr lang="en-US" sz="1400" dirty="0"/>
                  <a:t>Es </a:t>
                </a:r>
                <a:r>
                  <a:rPr lang="en-US" sz="1400" b="1" dirty="0"/>
                  <a:t>Mala</a:t>
                </a:r>
                <a:r>
                  <a:rPr lang="en-US" sz="1400" dirty="0"/>
                  <a:t>.</a:t>
                </a:r>
              </a:p>
              <a:p>
                <a:pPr lvl="1"/>
                <a:r>
                  <a:rPr lang="en-US" sz="1400" b="1" dirty="0"/>
                  <a:t>Voto del Árbol 2: 👎 (NO GUSTA)</a:t>
                </a:r>
                <a:endParaRPr lang="en-US" sz="1400" dirty="0"/>
              </a:p>
              <a:p>
                <a:pPr lvl="0"/>
                <a:r>
                  <a:rPr lang="en-US" sz="1400" b="1" dirty="0" err="1"/>
                  <a:t>Evaluación</a:t>
                </a:r>
                <a:r>
                  <a:rPr lang="en-US" sz="1400" b="1" dirty="0"/>
                  <a:t> del Árbol 3:</a:t>
                </a:r>
                <a:endParaRPr lang="en-US" sz="1400" dirty="0"/>
              </a:p>
              <a:p>
                <a:pPr lvl="1"/>
                <a:r>
                  <a:rPr lang="en-US" sz="1400" dirty="0"/>
                  <a:t>Mira la </a:t>
                </a:r>
                <a:r>
                  <a:rPr lang="en-US" sz="1400" dirty="0" err="1"/>
                  <a:t>temperatura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/>
                      <m:t>→</m:t>
                    </m:r>
                  </m:oMath>
                </a14:m>
                <a:r>
                  <a:rPr lang="en-US" sz="1400" dirty="0" err="1"/>
                  <a:t>está</a:t>
                </a:r>
                <a:r>
                  <a:rPr lang="en-US" sz="1400" dirty="0"/>
                  <a:t> </a:t>
                </a:r>
                <a:r>
                  <a:rPr lang="en-US" sz="1400" b="1" dirty="0"/>
                  <a:t>Caliente</a:t>
                </a:r>
                <a:r>
                  <a:rPr lang="en-US" sz="1400" dirty="0"/>
                  <a:t>. Pasa al </a:t>
                </a:r>
                <a:r>
                  <a:rPr lang="en-US" sz="1400" dirty="0" err="1"/>
                  <a:t>segundo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nivel</a:t>
                </a:r>
                <a:r>
                  <a:rPr lang="en-US" sz="1400" dirty="0"/>
                  <a:t>.</a:t>
                </a:r>
              </a:p>
              <a:p>
                <a:pPr lvl="1"/>
                <a:r>
                  <a:rPr lang="en-US" sz="1400" dirty="0"/>
                  <a:t>Mira el </a:t>
                </a:r>
                <a:r>
                  <a:rPr lang="en-US" sz="1400" dirty="0" err="1"/>
                  <a:t>azúcar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/>
                      <m:t>→</m:t>
                    </m:r>
                  </m:oMath>
                </a14:m>
                <a:r>
                  <a:rPr lang="en-US" sz="1400" b="1" dirty="0" err="1"/>
                  <a:t>Sí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tiene</a:t>
                </a:r>
                <a:r>
                  <a:rPr lang="en-US" sz="1400" dirty="0"/>
                  <a:t>.</a:t>
                </a:r>
              </a:p>
              <a:p>
                <a:pPr lvl="1"/>
                <a:r>
                  <a:rPr lang="en-US" sz="1400" b="1" dirty="0"/>
                  <a:t>Voto del Árbol 3: 👍 (SÍ GUSTA)</a:t>
                </a:r>
              </a:p>
              <a:p>
                <a:pPr lvl="1"/>
                <a:endParaRPr lang="en-US" sz="1400" dirty="0"/>
              </a:p>
              <a:p>
                <a:r>
                  <a:rPr lang="en-US" sz="1400" b="1" dirty="0"/>
                  <a:t>RESULTADO DEFINITIVO DEL RANDOM FOREST</a:t>
                </a:r>
              </a:p>
              <a:p>
                <a:pPr lvl="0"/>
                <a:r>
                  <a:rPr lang="en-US" sz="1400" dirty="0"/>
                  <a:t>👎 </a:t>
                </a:r>
                <a:r>
                  <a:rPr lang="en-US" sz="1400" b="1" dirty="0"/>
                  <a:t>2 </a:t>
                </a:r>
                <a:r>
                  <a:rPr lang="en-US" sz="1400" b="1" dirty="0" err="1"/>
                  <a:t>Árboles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votaron</a:t>
                </a:r>
                <a:r>
                  <a:rPr lang="en-US" sz="1400" b="1" dirty="0"/>
                  <a:t> NO GUSTA</a:t>
                </a:r>
                <a:r>
                  <a:rPr lang="en-US" sz="1400" dirty="0"/>
                  <a:t> (Árbol 1 y Árbol 2)</a:t>
                </a:r>
              </a:p>
              <a:p>
                <a:pPr lvl="0"/>
                <a:r>
                  <a:rPr lang="en-US" sz="1400" dirty="0"/>
                  <a:t>👍 </a:t>
                </a:r>
                <a:r>
                  <a:rPr lang="en-US" sz="1400" b="1" dirty="0"/>
                  <a:t>1 Árbol </a:t>
                </a:r>
                <a:r>
                  <a:rPr lang="en-US" sz="1400" b="1" dirty="0" err="1"/>
                  <a:t>votó</a:t>
                </a:r>
                <a:r>
                  <a:rPr lang="en-US" sz="1400" b="1" dirty="0"/>
                  <a:t> SÍ GUSTA</a:t>
                </a:r>
                <a:r>
                  <a:rPr lang="en-US" sz="1400" dirty="0"/>
                  <a:t> (Árbol 3)</a:t>
                </a:r>
              </a:p>
              <a:p>
                <a:endParaRPr lang="en-US" sz="1400" b="1" dirty="0"/>
              </a:p>
              <a:p>
                <a:r>
                  <a:rPr lang="en-US" sz="1400" b="1" dirty="0" err="1"/>
                  <a:t>Predicción</a:t>
                </a:r>
                <a:r>
                  <a:rPr lang="en-US" sz="1400" b="1" dirty="0"/>
                  <a:t> Final del Bosque:</a:t>
                </a:r>
                <a:r>
                  <a:rPr lang="en-US" sz="1400" dirty="0"/>
                  <a:t> </a:t>
                </a:r>
                <a:r>
                  <a:rPr lang="en-US" sz="1400" b="1" dirty="0"/>
                  <a:t>👎 NO GUSTA (Con un 66.6% de </a:t>
                </a:r>
                <a:r>
                  <a:rPr lang="en-US" sz="1400" b="1" dirty="0" err="1"/>
                  <a:t>probabilidad</a:t>
                </a:r>
                <a:r>
                  <a:rPr lang="en-US" sz="1400" b="1" dirty="0"/>
                  <a:t> de </a:t>
                </a:r>
                <a:r>
                  <a:rPr lang="en-US" sz="1400" b="1" dirty="0" err="1"/>
                  <a:t>rechazo</a:t>
                </a:r>
                <a:r>
                  <a:rPr lang="en-US" sz="1400" b="1" dirty="0"/>
                  <a:t>).</a:t>
                </a:r>
                <a:endParaRPr lang="en-US" sz="1400" dirty="0"/>
              </a:p>
              <a:p>
                <a:r>
                  <a:rPr lang="en-US" sz="1400" b="1" dirty="0"/>
                  <a:t>¿Por </a:t>
                </a:r>
                <a:r>
                  <a:rPr lang="en-US" sz="1400" b="1" dirty="0" err="1"/>
                  <a:t>qué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fue</a:t>
                </a:r>
                <a:r>
                  <a:rPr lang="en-US" sz="1400" b="1" dirty="0"/>
                  <a:t> la </a:t>
                </a:r>
                <a:r>
                  <a:rPr lang="en-US" sz="1400" b="1" dirty="0" err="1"/>
                  <a:t>predicción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correcta</a:t>
                </a:r>
                <a:r>
                  <a:rPr lang="en-US" sz="1400" b="1" dirty="0"/>
                  <a:t>?</a:t>
                </a:r>
                <a:endParaRPr lang="en-US" sz="1400" dirty="0"/>
              </a:p>
              <a:p>
                <a:r>
                  <a:rPr lang="en-US" sz="1400" dirty="0" err="1"/>
                  <a:t>Porque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aunque</a:t>
                </a:r>
                <a:r>
                  <a:rPr lang="en-US" sz="1400" dirty="0"/>
                  <a:t> el Árbol 3 se "</a:t>
                </a:r>
                <a:r>
                  <a:rPr lang="en-US" sz="1400" dirty="0" err="1"/>
                  <a:t>deslumbró</a:t>
                </a:r>
                <a:r>
                  <a:rPr lang="en-US" sz="1400" dirty="0"/>
                  <a:t>" </a:t>
                </a:r>
                <a:r>
                  <a:rPr lang="en-US" sz="1400" dirty="0" err="1"/>
                  <a:t>porque</a:t>
                </a:r>
                <a:r>
                  <a:rPr lang="en-US" sz="1400" dirty="0"/>
                  <a:t> el café </a:t>
                </a:r>
                <a:r>
                  <a:rPr lang="en-US" sz="1400" dirty="0" err="1"/>
                  <a:t>tenía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azúcar</a:t>
                </a:r>
                <a:r>
                  <a:rPr lang="en-US" sz="1400" dirty="0"/>
                  <a:t> y </a:t>
                </a:r>
                <a:r>
                  <a:rPr lang="en-US" sz="1400" dirty="0" err="1"/>
                  <a:t>estaba</a:t>
                </a:r>
                <a:r>
                  <a:rPr lang="en-US" sz="1400" dirty="0"/>
                  <a:t> caliente, </a:t>
                </a:r>
                <a:r>
                  <a:rPr lang="en-US" sz="1400" dirty="0" err="1"/>
                  <a:t>los</a:t>
                </a:r>
                <a:r>
                  <a:rPr lang="en-US" sz="1400" dirty="0"/>
                  <a:t> </a:t>
                </a:r>
                <a:r>
                  <a:rPr lang="en-US" sz="1400" dirty="0" err="1"/>
                  <a:t>Árboles</a:t>
                </a:r>
                <a:r>
                  <a:rPr lang="en-US" sz="1400" dirty="0"/>
                  <a:t> 1 y 2 </a:t>
                </a:r>
                <a:r>
                  <a:rPr lang="en-US" sz="1400" dirty="0" err="1"/>
                  <a:t>detectaron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</a:t>
                </a:r>
                <a:r>
                  <a:rPr lang="en-US" sz="1400" dirty="0"/>
                  <a:t> la mala </a:t>
                </a:r>
                <a:r>
                  <a:rPr lang="en-US" sz="1400" dirty="0" err="1"/>
                  <a:t>acidez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arruina</a:t>
                </a:r>
                <a:r>
                  <a:rPr lang="en-US" sz="1400" dirty="0"/>
                  <a:t> el café </a:t>
                </a:r>
                <a:r>
                  <a:rPr lang="en-US" sz="1400" dirty="0" err="1"/>
                  <a:t>aunque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tenga</a:t>
                </a:r>
                <a:r>
                  <a:rPr lang="en-US" sz="1400" dirty="0"/>
                  <a:t> leche. La </a:t>
                </a:r>
                <a:r>
                  <a:rPr lang="en-US" sz="1400" dirty="0" err="1"/>
                  <a:t>democracia</a:t>
                </a:r>
                <a:r>
                  <a:rPr lang="en-US" sz="1400" dirty="0"/>
                  <a:t> del bosque </a:t>
                </a:r>
                <a:r>
                  <a:rPr lang="en-US" sz="1400" dirty="0" err="1"/>
                  <a:t>corrigió</a:t>
                </a:r>
                <a:r>
                  <a:rPr lang="en-US" sz="1400" dirty="0"/>
                  <a:t> el error del Árbol 3.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207306-5D76-DD30-106C-F95B6D457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25" y="421389"/>
                <a:ext cx="10453254" cy="6124754"/>
              </a:xfrm>
              <a:prstGeom prst="rect">
                <a:avLst/>
              </a:prstGeom>
              <a:blipFill>
                <a:blip r:embed="rId2"/>
                <a:stretch>
                  <a:fillRect l="-243" t="-207" r="-243" b="-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635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289A-6122-C2F9-AC17-90A6712E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C0892-862A-4D4B-68E0-2564A9BC9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69527" y="3089803"/>
            <a:ext cx="6622473" cy="36096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5E2AA5-8563-A52A-15CA-247B1E2A3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81" y="681037"/>
            <a:ext cx="5714484" cy="259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42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1634</Words>
  <Application>Microsoft Macintosh PowerPoint</Application>
  <PresentationFormat>Widescreen</PresentationFormat>
  <Paragraphs>153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Google Sans Text</vt:lpstr>
      <vt:lpstr>Office Theme</vt:lpstr>
      <vt:lpstr>PowerPoint Presentation</vt:lpstr>
      <vt:lpstr>Modelos de clasificacion de datos</vt:lpstr>
      <vt:lpstr>Decision Tree</vt:lpstr>
      <vt:lpstr>Decision Tree</vt:lpstr>
      <vt:lpstr>Como se genera el “Tree”</vt:lpstr>
      <vt:lpstr>PowerPoint Presentation</vt:lpstr>
      <vt:lpstr>PowerPoint Presentation</vt:lpstr>
      <vt:lpstr>PowerPoint Presentation</vt:lpstr>
      <vt:lpstr>PowerPoint Presentation</vt:lpstr>
      <vt:lpstr>un grupo de "expertos imperfectos" es mejor que un solo "super-experto"</vt:lpstr>
      <vt:lpstr>PowerPoint Presentation</vt:lpstr>
      <vt:lpstr>PowerPoint Presentation</vt:lpstr>
      <vt:lpstr>Tree #1</vt:lpstr>
      <vt:lpstr>Tree # 2</vt:lpstr>
      <vt:lpstr>Tree # 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Escobar Alonso</dc:creator>
  <cp:lastModifiedBy>Sebastian Escobar Alonso</cp:lastModifiedBy>
  <cp:revision>4</cp:revision>
  <dcterms:created xsi:type="dcterms:W3CDTF">2026-10-12T15:38:28Z</dcterms:created>
  <dcterms:modified xsi:type="dcterms:W3CDTF">2026-10-12T18:22:52Z</dcterms:modified>
</cp:coreProperties>
</file>